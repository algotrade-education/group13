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Mono Medium"/>
      <p:regular r:id="rId24"/>
      <p:bold r:id="rId25"/>
      <p:italic r:id="rId26"/>
      <p:boldItalic r:id="rId27"/>
    </p:embeddedFont>
    <p:embeddedFont>
      <p:font typeface="Roboto"/>
      <p:regular r:id="rId28"/>
      <p:bold r:id="rId29"/>
      <p:italic r:id="rId30"/>
      <p:boldItalic r:id="rId31"/>
    </p:embeddedFont>
    <p:embeddedFont>
      <p:font typeface="Roboto Medium"/>
      <p:regular r:id="rId32"/>
      <p:bold r:id="rId33"/>
      <p:italic r:id="rId34"/>
      <p:boldItalic r:id="rId35"/>
    </p:embeddedFont>
    <p:embeddedFont>
      <p:font typeface="Montserrat"/>
      <p:regular r:id="rId36"/>
      <p:bold r:id="rId37"/>
      <p:italic r:id="rId38"/>
      <p:boldItalic r:id="rId39"/>
    </p:embeddedFont>
    <p:embeddedFont>
      <p:font typeface="Roboto Light"/>
      <p:regular r:id="rId40"/>
      <p:bold r:id="rId41"/>
      <p:italic r:id="rId42"/>
      <p:boldItalic r:id="rId43"/>
    </p:embeddedFont>
    <p:embeddedFont>
      <p:font typeface="Montserrat ExtraBold"/>
      <p:bold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Light-regular.fntdata"/><Relationship Id="rId42" Type="http://schemas.openxmlformats.org/officeDocument/2006/relationships/font" Target="fonts/RobotoLight-italic.fntdata"/><Relationship Id="rId41" Type="http://schemas.openxmlformats.org/officeDocument/2006/relationships/font" Target="fonts/RobotoLight-bold.fntdata"/><Relationship Id="rId44" Type="http://schemas.openxmlformats.org/officeDocument/2006/relationships/font" Target="fonts/MontserratExtraBold-bold.fntdata"/><Relationship Id="rId43" Type="http://schemas.openxmlformats.org/officeDocument/2006/relationships/font" Target="fonts/RobotoLight-boldItalic.fntdata"/><Relationship Id="rId46" Type="http://schemas.openxmlformats.org/officeDocument/2006/relationships/font" Target="fonts/RobotoMono-regular.fntdata"/><Relationship Id="rId45" Type="http://schemas.openxmlformats.org/officeDocument/2006/relationships/font" Target="fonts/MontserratExtra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33" Type="http://schemas.openxmlformats.org/officeDocument/2006/relationships/font" Target="fonts/RobotoMedium-bold.fntdata"/><Relationship Id="rId32" Type="http://schemas.openxmlformats.org/officeDocument/2006/relationships/font" Target="fonts/RobotoMedium-regular.fntdata"/><Relationship Id="rId35" Type="http://schemas.openxmlformats.org/officeDocument/2006/relationships/font" Target="fonts/RobotoMedium-boldItalic.fntdata"/><Relationship Id="rId34" Type="http://schemas.openxmlformats.org/officeDocument/2006/relationships/font" Target="fonts/RobotoMedium-italic.fntdata"/><Relationship Id="rId37" Type="http://schemas.openxmlformats.org/officeDocument/2006/relationships/font" Target="fonts/Montserrat-bold.fntdata"/><Relationship Id="rId36" Type="http://schemas.openxmlformats.org/officeDocument/2006/relationships/font" Target="fonts/Montserrat-regular.fntdata"/><Relationship Id="rId39" Type="http://schemas.openxmlformats.org/officeDocument/2006/relationships/font" Target="fonts/Montserrat-boldItalic.fntdata"/><Relationship Id="rId38" Type="http://schemas.openxmlformats.org/officeDocument/2006/relationships/font" Target="fonts/Montserrat-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MonoMedium-regular.fntdata"/><Relationship Id="rId23" Type="http://schemas.openxmlformats.org/officeDocument/2006/relationships/slide" Target="slides/slide18.xml"/><Relationship Id="rId26" Type="http://schemas.openxmlformats.org/officeDocument/2006/relationships/font" Target="fonts/RobotoMonoMedium-italic.fntdata"/><Relationship Id="rId25" Type="http://schemas.openxmlformats.org/officeDocument/2006/relationships/font" Target="fonts/RobotoMonoMedium-bold.fntdata"/><Relationship Id="rId28" Type="http://schemas.openxmlformats.org/officeDocument/2006/relationships/font" Target="fonts/Roboto-regular.fntdata"/><Relationship Id="rId27" Type="http://schemas.openxmlformats.org/officeDocument/2006/relationships/font" Target="fonts/RobotoMonoMedium-boldItalic.fntdata"/><Relationship Id="rId29"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c3c8016df_0_6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c3c8016df_0_138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c3c8016df_0_20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a:solidFill>
                  <a:schemeClr val="dk1"/>
                </a:solidFill>
              </a:rPr>
              <a:t>"Xin chào anh An Đan và các bạn. Tôi là Gia Khang, đại diện Group 13. Hôm nay, nhóm xin trình bày về dự án Hệ thống Giao dịch Thuật toán Tự động trên hợp đồng tương lai VN30 (VNF301M).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Mục tiêu của nhóm không chỉ là tìm kiếm một công thức giao dịch, mà là </a:t>
            </a:r>
            <a:r>
              <a:rPr b="1" lang="vi">
                <a:solidFill>
                  <a:schemeClr val="dk1"/>
                </a:solidFill>
              </a:rPr>
              <a:t>xây dựng một hạ tầng phần mềm thực chiến</a:t>
            </a:r>
            <a:r>
              <a:rPr lang="vi">
                <a:solidFill>
                  <a:schemeClr val="dk1"/>
                </a:solidFill>
              </a:rPr>
              <a:t> từ A đến Z: từ khâu lên giả thuyết, xử lý dữ liệu, kiểm định, cho đến việc cắm bot chạy live trên sàn ảo. Trong dự án này, nhóm chọn chiến lược Trend Following (Bám theo xu hướng) làm trọng tâm để giải quyết bài toán cốt lõi: Làm sao để bắt được những con sóng lớn của thị trường phái sinh mà không bị cảm xúc chi phối?"</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c3c8016df_0_145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c3c8016df_0_35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vi">
                <a:solidFill>
                  <a:schemeClr val="dk1"/>
                </a:solidFill>
              </a:rPr>
              <a:t>Tại sao lại là Trend Following?</a:t>
            </a:r>
            <a:r>
              <a:rPr lang="vi">
                <a:solidFill>
                  <a:schemeClr val="dk1"/>
                </a:solidFill>
              </a:rPr>
              <a:t> Chúng tôi tin rằng thị trường Việt Nam bị chi phối rất mạnh bởi yếu tố vĩ mô và dòng tiền tổ chức. Khi có tin tức lớn, thị trường thường tạo ra một xu hướng định hướng rõ rệt. Bám theo xu hướng là cách an toàn nhất để tối đa hóa lợi nhuận.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c3c8016df_0_206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vi" sz="1050">
                <a:solidFill>
                  <a:srgbClr val="1F1F1F"/>
                </a:solidFill>
                <a:highlight>
                  <a:srgbClr val="E9EEF6"/>
                </a:highlight>
                <a:latin typeface="Roboto"/>
                <a:ea typeface="Roboto"/>
                <a:cs typeface="Roboto"/>
                <a:sym typeface="Roboto"/>
              </a:rPr>
              <a:t>Thứ nhất, về thuật toán bắt xu hướng (EMA):</a:t>
            </a:r>
            <a:r>
              <a:rPr lang="vi" sz="1050">
                <a:solidFill>
                  <a:srgbClr val="1F1F1F"/>
                </a:solidFill>
                <a:highlight>
                  <a:srgbClr val="E9EEF6"/>
                </a:highlight>
                <a:latin typeface="Roboto"/>
                <a:ea typeface="Roboto"/>
                <a:cs typeface="Roboto"/>
                <a:sym typeface="Roboto"/>
              </a:rPr>
              <a:t>Khác với đường trung bình động đơn giản (SMA) chia đều trọng số cho tất cả các nến, nhóm sử dụng Trung bình động Hàm mũ (EMA) theo công thức:$$EMA_t = (Price_t \times \alpha) + (EMA_{t-1} \times (1 - \alpha))$$Với hệ số trượt:$$\alpha = \frac{2}{N + 1}$$</a:t>
            </a:r>
            <a:endParaRPr sz="1050">
              <a:solidFill>
                <a:srgbClr val="1F1F1F"/>
              </a:solidFill>
              <a:highlight>
                <a:srgbClr val="E9EEF6"/>
              </a:highlight>
              <a:latin typeface="Roboto"/>
              <a:ea typeface="Roboto"/>
              <a:cs typeface="Roboto"/>
              <a:sym typeface="Roboto"/>
            </a:endParaRPr>
          </a:p>
          <a:p>
            <a:pPr indent="-295275" lvl="0" marL="457200" rtl="0" algn="l">
              <a:lnSpc>
                <a:spcPct val="115000"/>
              </a:lnSpc>
              <a:spcBef>
                <a:spcPts val="1200"/>
              </a:spcBef>
              <a:spcAft>
                <a:spcPts val="0"/>
              </a:spcAft>
              <a:buClr>
                <a:srgbClr val="1F1F1F"/>
              </a:buClr>
              <a:buSzPts val="1050"/>
              <a:buFont typeface="Roboto"/>
              <a:buChar char="●"/>
            </a:pPr>
            <a:r>
              <a:rPr lang="vi" sz="1050">
                <a:solidFill>
                  <a:srgbClr val="1F1F1F"/>
                </a:solidFill>
                <a:highlight>
                  <a:srgbClr val="E9EEF6"/>
                </a:highlight>
                <a:latin typeface="Roboto"/>
                <a:ea typeface="Roboto"/>
                <a:cs typeface="Roboto"/>
                <a:sym typeface="Roboto"/>
              </a:rPr>
              <a:t>Với </a:t>
            </a:r>
            <a:r>
              <a:rPr b="1" lang="vi" sz="1050">
                <a:solidFill>
                  <a:srgbClr val="1F1F1F"/>
                </a:solidFill>
                <a:highlight>
                  <a:srgbClr val="E9EEF6"/>
                </a:highlight>
                <a:latin typeface="Roboto"/>
                <a:ea typeface="Roboto"/>
                <a:cs typeface="Roboto"/>
                <a:sym typeface="Roboto"/>
              </a:rPr>
              <a:t>EMA 10</a:t>
            </a:r>
            <a:r>
              <a:rPr lang="vi" sz="1050">
                <a:solidFill>
                  <a:srgbClr val="1F1F1F"/>
                </a:solidFill>
                <a:highlight>
                  <a:srgbClr val="E9EEF6"/>
                </a:highlight>
                <a:latin typeface="Roboto"/>
                <a:ea typeface="Roboto"/>
                <a:cs typeface="Roboto"/>
                <a:sym typeface="Roboto"/>
              </a:rPr>
              <a:t> (đường nhanh), hệ số $\alpha \approx 18.18\%$. Nó ưu tiên phản ánh cực nhạy những biến động giá tức thời.</a:t>
            </a:r>
            <a:endParaRPr sz="1050">
              <a:solidFill>
                <a:srgbClr val="1F1F1F"/>
              </a:solidFill>
              <a:highlight>
                <a:srgbClr val="E9EEF6"/>
              </a:highlight>
              <a:latin typeface="Roboto"/>
              <a:ea typeface="Roboto"/>
              <a:cs typeface="Roboto"/>
              <a:sym typeface="Roboto"/>
            </a:endParaRPr>
          </a:p>
          <a:p>
            <a:pPr indent="-295275" lvl="0" marL="457200" rtl="0" algn="l">
              <a:lnSpc>
                <a:spcPct val="115000"/>
              </a:lnSpc>
              <a:spcBef>
                <a:spcPts val="0"/>
              </a:spcBef>
              <a:spcAft>
                <a:spcPts val="0"/>
              </a:spcAft>
              <a:buClr>
                <a:srgbClr val="1F1F1F"/>
              </a:buClr>
              <a:buSzPts val="1050"/>
              <a:buFont typeface="Roboto"/>
              <a:buChar char="●"/>
            </a:pPr>
            <a:r>
              <a:rPr lang="vi" sz="1050">
                <a:solidFill>
                  <a:srgbClr val="1F1F1F"/>
                </a:solidFill>
                <a:highlight>
                  <a:srgbClr val="E9EEF6"/>
                </a:highlight>
                <a:latin typeface="Roboto"/>
                <a:ea typeface="Roboto"/>
                <a:cs typeface="Roboto"/>
                <a:sym typeface="Roboto"/>
              </a:rPr>
              <a:t>Với </a:t>
            </a:r>
            <a:r>
              <a:rPr b="1" lang="vi" sz="1050">
                <a:solidFill>
                  <a:srgbClr val="1F1F1F"/>
                </a:solidFill>
                <a:highlight>
                  <a:srgbClr val="E9EEF6"/>
                </a:highlight>
                <a:latin typeface="Roboto"/>
                <a:ea typeface="Roboto"/>
                <a:cs typeface="Roboto"/>
                <a:sym typeface="Roboto"/>
              </a:rPr>
              <a:t>EMA 30</a:t>
            </a:r>
            <a:r>
              <a:rPr lang="vi" sz="1050">
                <a:solidFill>
                  <a:srgbClr val="1F1F1F"/>
                </a:solidFill>
                <a:highlight>
                  <a:srgbClr val="E9EEF6"/>
                </a:highlight>
                <a:latin typeface="Roboto"/>
                <a:ea typeface="Roboto"/>
                <a:cs typeface="Roboto"/>
                <a:sym typeface="Roboto"/>
              </a:rPr>
              <a:t> (đường chậm), hệ số $\alpha \approx 6.45\%$. Nó đóng vai trò là lăng kính xu hướng nền tảng.</a:t>
            </a:r>
            <a:endParaRPr sz="1050">
              <a:solidFill>
                <a:srgbClr val="1F1F1F"/>
              </a:solidFill>
              <a:highlight>
                <a:srgbClr val="E9EEF6"/>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vi" sz="1050">
                <a:solidFill>
                  <a:srgbClr val="1F1F1F"/>
                </a:solidFill>
                <a:highlight>
                  <a:srgbClr val="E9EEF6"/>
                </a:highlight>
                <a:latin typeface="Roboto"/>
                <a:ea typeface="Roboto"/>
                <a:cs typeface="Roboto"/>
                <a:sym typeface="Roboto"/>
              </a:rPr>
              <a:t>Tín hiệu ra quyết định được hệ thống xác định theo hai chiều rõ rệt:</a:t>
            </a:r>
            <a:endParaRPr sz="1050">
              <a:solidFill>
                <a:srgbClr val="1F1F1F"/>
              </a:solidFill>
              <a:highlight>
                <a:srgbClr val="E9EEF6"/>
              </a:highlight>
              <a:latin typeface="Roboto"/>
              <a:ea typeface="Roboto"/>
              <a:cs typeface="Roboto"/>
              <a:sym typeface="Roboto"/>
            </a:endParaRPr>
          </a:p>
          <a:p>
            <a:pPr indent="-295275" lvl="0" marL="457200" rtl="0" algn="l">
              <a:lnSpc>
                <a:spcPct val="115000"/>
              </a:lnSpc>
              <a:spcBef>
                <a:spcPts val="1200"/>
              </a:spcBef>
              <a:spcAft>
                <a:spcPts val="0"/>
              </a:spcAft>
              <a:buClr>
                <a:srgbClr val="1F1F1F"/>
              </a:buClr>
              <a:buSzPts val="1050"/>
              <a:buFont typeface="Roboto"/>
              <a:buChar char="●"/>
            </a:pPr>
            <a:r>
              <a:rPr b="1" lang="vi" sz="1050">
                <a:solidFill>
                  <a:srgbClr val="1F1F1F"/>
                </a:solidFill>
                <a:highlight>
                  <a:srgbClr val="E9EEF6"/>
                </a:highlight>
                <a:latin typeface="Roboto"/>
                <a:ea typeface="Roboto"/>
                <a:cs typeface="Roboto"/>
                <a:sym typeface="Roboto"/>
              </a:rPr>
              <a:t>Tín hiệu mở lệnh Long:</a:t>
            </a:r>
            <a:r>
              <a:rPr lang="vi" sz="1050">
                <a:solidFill>
                  <a:srgbClr val="1F1F1F"/>
                </a:solidFill>
                <a:highlight>
                  <a:srgbClr val="E9EEF6"/>
                </a:highlight>
                <a:latin typeface="Roboto"/>
                <a:ea typeface="Roboto"/>
                <a:cs typeface="Roboto"/>
                <a:sym typeface="Roboto"/>
              </a:rPr>
              <a:t> Được kích hoạt khi EMA 10 cắt lên trên EMA 30, đánh dấu thời điểm động lượng ngắn hạn bứt phá khỏi nền tảng dài hạn.</a:t>
            </a:r>
            <a:endParaRPr sz="1050">
              <a:solidFill>
                <a:srgbClr val="1F1F1F"/>
              </a:solidFill>
              <a:highlight>
                <a:srgbClr val="E9EEF6"/>
              </a:highlight>
              <a:latin typeface="Roboto"/>
              <a:ea typeface="Roboto"/>
              <a:cs typeface="Roboto"/>
              <a:sym typeface="Roboto"/>
            </a:endParaRPr>
          </a:p>
          <a:p>
            <a:pPr indent="-295275" lvl="0" marL="457200" rtl="0" algn="l">
              <a:lnSpc>
                <a:spcPct val="115000"/>
              </a:lnSpc>
              <a:spcBef>
                <a:spcPts val="0"/>
              </a:spcBef>
              <a:spcAft>
                <a:spcPts val="0"/>
              </a:spcAft>
              <a:buClr>
                <a:srgbClr val="1F1F1F"/>
              </a:buClr>
              <a:buSzPts val="1050"/>
              <a:buFont typeface="Roboto"/>
              <a:buChar char="●"/>
            </a:pPr>
            <a:r>
              <a:rPr b="1" lang="vi" sz="1050">
                <a:solidFill>
                  <a:srgbClr val="1F1F1F"/>
                </a:solidFill>
                <a:highlight>
                  <a:srgbClr val="E9EEF6"/>
                </a:highlight>
                <a:latin typeface="Roboto"/>
                <a:ea typeface="Roboto"/>
                <a:cs typeface="Roboto"/>
                <a:sym typeface="Roboto"/>
              </a:rPr>
              <a:t>Tín hiệu mở lệnh Short:</a:t>
            </a:r>
            <a:r>
              <a:rPr lang="vi" sz="1050">
                <a:solidFill>
                  <a:srgbClr val="1F1F1F"/>
                </a:solidFill>
                <a:highlight>
                  <a:srgbClr val="E9EEF6"/>
                </a:highlight>
                <a:latin typeface="Roboto"/>
                <a:ea typeface="Roboto"/>
                <a:cs typeface="Roboto"/>
                <a:sym typeface="Roboto"/>
              </a:rPr>
              <a:t> Ngược lại, hệ thống sẽ kích hoạt lệnh bán khống khi EMA 10 cắt xuống dưới EMA 30, báo hiệu đà giảm giá đang áp đảo và phá vỡ nền tảng hỗ trợ, mở ra một nhịp rơi mới của thị trường.</a:t>
            </a:r>
            <a:endParaRPr sz="1050">
              <a:solidFill>
                <a:srgbClr val="1F1F1F"/>
              </a:solidFill>
              <a:highlight>
                <a:srgbClr val="E9EEF6"/>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c3c8016df_0_18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a:solidFill>
                  <a:schemeClr val="dk1"/>
                </a:solidFill>
              </a:rPr>
              <a:t>"</a:t>
            </a:r>
            <a:r>
              <a:rPr b="1" lang="vi">
                <a:solidFill>
                  <a:schemeClr val="dk1"/>
                </a:solidFill>
              </a:rPr>
              <a:t>Thứ hai, bộ lọc động lượng (RSI):</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Để không dính bẫy tăng giá giả (Bull trap) hay bẫy giảm giá giả (Bear trap) trong các nhịp nhiễu sóng ngắn, nhóm dùng RSI làm chốt chặn. Công thức của RSI dựa trên trung bình các nến tăng (Average Gain) và nến giảm (Average Loss):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$$RSI = 100 - \frac{100}{1 + \frac{\text{Average Gain}}{\text{Average Loss}}}$$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Nhóm cấu hình logic bắt buộc cho cả hai chiều giao dịch: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vi">
                <a:solidFill>
                  <a:schemeClr val="dk1"/>
                </a:solidFill>
              </a:rPr>
              <a:t>Đối với lệnh Long:</a:t>
            </a:r>
            <a:r>
              <a:rPr lang="vi">
                <a:solidFill>
                  <a:schemeClr val="dk1"/>
                </a:solidFill>
              </a:rPr>
              <a:t> Chỉ được xác nhận khi $RSI \in [45, 75]$. Về mặt toán học, điều này đảm bảo tử số (Average Gain) đang nhỉnh hơn mẫu số (Average Loss) giúp RSI vượt mốc 45, thể hiện phe mua đang thực sự chiếm ưu thế. Tuy nhiên, nếu RSI vượt quá 75, thị trường đã rơi vào trạng thái quá mua (overbought), hệ thống sẽ từ chối vào lệnh để tránh rủi ro 'đu đỉnh'.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vi">
                <a:solidFill>
                  <a:schemeClr val="dk1"/>
                </a:solidFill>
              </a:rPr>
              <a:t>Đối với lệnh Short:</a:t>
            </a:r>
            <a:r>
              <a:rPr lang="vi">
                <a:solidFill>
                  <a:schemeClr val="dk1"/>
                </a:solidFill>
              </a:rPr>
              <a:t> Tương tự, lệnh Short chỉ được kích hoạt khi $RSI \in [25, 55]$. Ở vùng này, mẫu số (Average Loss) đang áp đảo tử số, đẩy chỉ báo xuống mức thấp, xác nhận phe bán đang kiểm soát xu hướng. Nếu RSI rớt xuống dưới 25, thị trường rơi vào trạng thái quá bán (oversold), hệ thống cũng sẽ chặn tín hiệu ngay lập tức để tránh rủi ro 'bán đúng đáy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c3c8016df_0_193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vi">
                <a:solidFill>
                  <a:schemeClr val="dk1"/>
                </a:solidFill>
              </a:rPr>
              <a:t>Cuối cùng, quản trị rủi ro động bằng ATR:</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Thay vì đặt Stop Loss bằng một mức điểm cố định cứng nhắc, bot tính toán độ nhiễu thực tế của nến qua công thức Biên độ Dao động Thực tế (True Range):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$$TR = \max(H - L, |H - C_{prev}|, |L - C_{prev}|)$$</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Giá trị ATR là mức trung bình của TR trong 14 chu kỳ. Bot sẽ lấy điểm vào lệnh trừ đi $2 \times ATR$ để đặt mức cắt lỗ tự động.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Nhờ phép toán này, vào những phiên thị trường giật lắc mạnh (ATR lớn), Stop Loss tự động được nới rộng ra để tránh bị 'quét văng' oan uổng; ngược lại, khi thanh khoản thấp và giá đi êm (ATR nhỏ), Stop Loss được siết chặt lại để tối ưu hóa tỷ lệ rủi ro/lợi nhuận của hệ thống."</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c3c8016df_0_65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a:solidFill>
                  <a:schemeClr val="dk1"/>
                </a:solidFill>
              </a:rPr>
              <a:t>Để đưa thuật toán EMA từ lý thuyết ra chạy thực tế, phần </a:t>
            </a:r>
            <a:r>
              <a:rPr b="1" lang="vi">
                <a:solidFill>
                  <a:schemeClr val="dk1"/>
                </a:solidFill>
              </a:rPr>
              <a:t>Dữ liệu và Hạ tầng (Slide 2.2)</a:t>
            </a:r>
            <a:r>
              <a:rPr lang="vi">
                <a:solidFill>
                  <a:schemeClr val="dk1"/>
                </a:solidFill>
              </a:rPr>
              <a:t> là nơi nhóm dành nhiều công sức nhất.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Thứ nhất, về </a:t>
            </a:r>
            <a:r>
              <a:rPr b="1" lang="vi">
                <a:solidFill>
                  <a:schemeClr val="dk1"/>
                </a:solidFill>
              </a:rPr>
              <a:t>Xử lý Dữ liệu</a:t>
            </a:r>
            <a:r>
              <a:rPr lang="vi">
                <a:solidFill>
                  <a:schemeClr val="dk1"/>
                </a:solidFill>
              </a:rPr>
              <a:t>, chúng tôi truy xuất dữ liệu trực tiếp từ </a:t>
            </a:r>
            <a:r>
              <a:rPr b="1" lang="vi">
                <a:solidFill>
                  <a:schemeClr val="dk1"/>
                </a:solidFill>
              </a:rPr>
              <a:t>algotradeDB</a:t>
            </a:r>
            <a:r>
              <a:rPr lang="vi">
                <a:solidFill>
                  <a:schemeClr val="dk1"/>
                </a:solidFill>
              </a:rPr>
              <a:t> và chuẩn hóa về khung thời gian </a:t>
            </a:r>
            <a:r>
              <a:rPr b="1" lang="vi">
                <a:solidFill>
                  <a:schemeClr val="dk1"/>
                </a:solidFill>
              </a:rPr>
              <a:t>1 phút</a:t>
            </a:r>
            <a:r>
              <a:rPr lang="vi">
                <a:solidFill>
                  <a:schemeClr val="dk1"/>
                </a:solidFill>
              </a:rPr>
              <a:t>. Điểm 'ăn tiền' nhất trong luồng xử lý này là hệ thống </a:t>
            </a:r>
            <a:r>
              <a:rPr b="1" lang="vi">
                <a:solidFill>
                  <a:schemeClr val="dk1"/>
                </a:solidFill>
              </a:rPr>
              <a:t>Roll Schedule</a:t>
            </a:r>
            <a:r>
              <a:rPr lang="vi">
                <a:solidFill>
                  <a:schemeClr val="dk1"/>
                </a:solidFill>
              </a:rPr>
              <a:t>. Nhóm đã cấu hình chi tiết 41 chu kỳ đáo hạn liên tiếp từ tháng 1/2023 đến tận tháng 5/2026. Cứ đến ngày đáo hạn, code sẽ tự động mapping để nối dữ liệu sang hợp đồng tháng tiếp theo. Nhờ vậy, chuỗi giá VNF301M liên tục một cách hoàn hảo, bot không bao giờ bị dính các lệnh nhiễu do khoảng trống giá (gap) giữa các kỳ hạn.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Thứ hai, về </a:t>
            </a:r>
            <a:r>
              <a:rPr b="1" lang="vi">
                <a:solidFill>
                  <a:schemeClr val="dk1"/>
                </a:solidFill>
              </a:rPr>
              <a:t>Quản trị Rủi ro</a:t>
            </a:r>
            <a:r>
              <a:rPr lang="vi">
                <a:solidFill>
                  <a:schemeClr val="dk1"/>
                </a:solidFill>
              </a:rPr>
              <a:t>, hệ thống hoàn toàn loại bỏ yếu tố cảm tính. Nhóm cấp số vốn backtest là 500 triệu đồng và thiết lập phí giao dịch cố định 35,000 VNĐ/chiều để phản ánh đúng rào cản chi phí thực tế. Hệ thống quản trị vốn cực kỳ chặt chẽ: mỗi lệnh chỉ đi 1 hợp đồng, Stop Loss động được đặt tự động ở mức 2.0 lần biên độ ATR. Khi giá đi đúng hướng, Trailing Stop 1.5 lần ATR sẽ kích hoạt để khóa lợi nhuận. Ngoài ra, bot còn có bộ lọc khối lượng (yêu cầu thanh khoản phải vượt 110% trung bình) để xác nhận tín hiệu Breakout an toàn.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Cuối cùng, về </a:t>
            </a:r>
            <a:r>
              <a:rPr b="1" lang="vi">
                <a:solidFill>
                  <a:schemeClr val="dk1"/>
                </a:solidFill>
              </a:rPr>
              <a:t>Kiến trúc Thực chiến</a:t>
            </a:r>
            <a:r>
              <a:rPr lang="vi">
                <a:solidFill>
                  <a:schemeClr val="dk1"/>
                </a:solidFill>
              </a:rPr>
              <a:t>, bot của Group 13 không click chuột thủ công. Môi trường Paper Trade được kết nối song song qua 2 kênh: REST API để đối soát số dư kế toán, và đặc biệt là giao thức chuẩn quốc tế </a:t>
            </a:r>
            <a:r>
              <a:rPr b="1" lang="vi">
                <a:solidFill>
                  <a:schemeClr val="dk1"/>
                </a:solidFill>
              </a:rPr>
              <a:t>FIX (Financial Information eXchange) qua cổng 5001</a:t>
            </a:r>
            <a:r>
              <a:rPr lang="vi">
                <a:solidFill>
                  <a:schemeClr val="dk1"/>
                </a:solidFill>
              </a:rPr>
              <a:t> để đẩy lệnh với độ trễ thấp nhất. Kiến trúc linh hoạt này còn đi kèm với tính năng </a:t>
            </a:r>
            <a:r>
              <a:rPr b="1" lang="vi">
                <a:solidFill>
                  <a:schemeClr val="dk1"/>
                </a:solidFill>
              </a:rPr>
              <a:t>Auto-sync</a:t>
            </a:r>
            <a:r>
              <a:rPr lang="vi">
                <a:solidFill>
                  <a:schemeClr val="dk1"/>
                </a:solidFill>
              </a:rPr>
              <a:t> — nếu kết nối mạng bị đứt, bot khởi động lại sẽ tự quét server để đồng bộ trạng thái lệnh hiện tại, ngăn chặn hoàn toàn rủi ro nhồi lệnh sai. Đồng thời, toàn bộ diễn biến thị trường sẽ được giám sát realtime qua Terminal và báo cáo lãi/lỗ lập tức về điện thoại qua Telegram."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c3c8016df_0_145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c3c8016df_0_79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sz="1050">
                <a:solidFill>
                  <a:srgbClr val="1F1F1F"/>
                </a:solidFill>
                <a:highlight>
                  <a:srgbClr val="E9EEF6"/>
                </a:highlight>
                <a:latin typeface="Roboto"/>
                <a:ea typeface="Roboto"/>
                <a:cs typeface="Roboto"/>
                <a:sym typeface="Roboto"/>
              </a:rPr>
              <a:t>[Khang nói]:</a:t>
            </a:r>
            <a:r>
              <a:rPr lang="vi" sz="1050">
                <a:solidFill>
                  <a:srgbClr val="1F1F1F"/>
                </a:solidFill>
                <a:highlight>
                  <a:srgbClr val="E9EEF6"/>
                </a:highlight>
                <a:latin typeface="Roboto"/>
                <a:ea typeface="Roboto"/>
                <a:cs typeface="Roboto"/>
                <a:sym typeface="Roboto"/>
              </a:rPr>
              <a:t> "Nhìn vào kết quả In-sample trên slide, các bạn có thể thấy một sự thật cực kỳ phũ phàng. Hệ thống không chỉ lỗ, mà đã </a:t>
            </a:r>
            <a:r>
              <a:rPr b="1" lang="vi" sz="1050">
                <a:solidFill>
                  <a:srgbClr val="1F1F1F"/>
                </a:solidFill>
                <a:highlight>
                  <a:srgbClr val="E9EEF6"/>
                </a:highlight>
                <a:latin typeface="Roboto"/>
                <a:ea typeface="Roboto"/>
                <a:cs typeface="Roboto"/>
                <a:sym typeface="Roboto"/>
              </a:rPr>
              <a:t>đánh cháy hoàn toàn tài khoản 500 triệu ban đầu</a:t>
            </a:r>
            <a:r>
              <a:rPr lang="vi" sz="1050">
                <a:solidFill>
                  <a:srgbClr val="1F1F1F"/>
                </a:solidFill>
                <a:highlight>
                  <a:srgbClr val="E9EEF6"/>
                </a:highlight>
                <a:latin typeface="Roboto"/>
                <a:ea typeface="Roboto"/>
                <a:cs typeface="Roboto"/>
                <a:sym typeface="Roboto"/>
              </a:rPr>
              <a:t>, ghi nhận mức Total Return âm 112.01% và để lại số dư cuối kỳ âm hơn 60 triệu đồng.Nhưng con số đáng báo động nhất nằm ở tổng số lệnh: </a:t>
            </a:r>
            <a:r>
              <a:rPr b="1" lang="vi" sz="1050">
                <a:solidFill>
                  <a:srgbClr val="1F1F1F"/>
                </a:solidFill>
                <a:highlight>
                  <a:srgbClr val="E9EEF6"/>
                </a:highlight>
                <a:latin typeface="Roboto"/>
                <a:ea typeface="Roboto"/>
                <a:cs typeface="Roboto"/>
                <a:sym typeface="Roboto"/>
              </a:rPr>
              <a:t>8,467 lệnh</a:t>
            </a:r>
            <a:r>
              <a:rPr lang="vi" sz="1050">
                <a:solidFill>
                  <a:srgbClr val="1F1F1F"/>
                </a:solidFill>
                <a:highlight>
                  <a:srgbClr val="E9EEF6"/>
                </a:highlight>
                <a:latin typeface="Roboto"/>
                <a:ea typeface="Roboto"/>
                <a:cs typeface="Roboto"/>
                <a:sym typeface="Roboto"/>
              </a:rPr>
              <a:t> chỉ trong 2 năm, tương đương trung bình gần 17 lệnh mỗi ngày! Các lệnh được giữ trung bình chỉ khoảng 12 phút trước khi đóng.</a:t>
            </a:r>
            <a:endParaRPr sz="1050">
              <a:solidFill>
                <a:srgbClr val="1F1F1F"/>
              </a:solidFill>
              <a:highlight>
                <a:srgbClr val="E9EEF6"/>
              </a:highlight>
              <a:latin typeface="Roboto"/>
              <a:ea typeface="Roboto"/>
              <a:cs typeface="Roboto"/>
              <a:sym typeface="Roboto"/>
            </a:endParaRPr>
          </a:p>
          <a:p>
            <a:pPr indent="0" lvl="0" marL="0" rtl="0" algn="l">
              <a:spcBef>
                <a:spcPts val="0"/>
              </a:spcBef>
              <a:spcAft>
                <a:spcPts val="0"/>
              </a:spcAft>
              <a:buNone/>
            </a:pPr>
            <a:r>
              <a:t/>
            </a:r>
            <a:endParaRPr b="1" sz="1050">
              <a:solidFill>
                <a:srgbClr val="1F1F1F"/>
              </a:solidFill>
              <a:highlight>
                <a:srgbClr val="E9EEF6"/>
              </a:highlight>
              <a:latin typeface="Roboto"/>
              <a:ea typeface="Roboto"/>
              <a:cs typeface="Roboto"/>
              <a:sym typeface="Roboto"/>
            </a:endParaRPr>
          </a:p>
          <a:p>
            <a:pPr indent="0" lvl="0" marL="0" rtl="0" algn="l">
              <a:spcBef>
                <a:spcPts val="0"/>
              </a:spcBef>
              <a:spcAft>
                <a:spcPts val="0"/>
              </a:spcAft>
              <a:buNone/>
            </a:pPr>
            <a:r>
              <a:rPr b="1" lang="vi" sz="1050">
                <a:solidFill>
                  <a:srgbClr val="1F1F1F"/>
                </a:solidFill>
                <a:highlight>
                  <a:srgbClr val="E9EEF6"/>
                </a:highlight>
                <a:latin typeface="Roboto"/>
                <a:ea typeface="Roboto"/>
                <a:cs typeface="Roboto"/>
                <a:sym typeface="Roboto"/>
              </a:rPr>
              <a:t>Nguyên nhân sâu xa do đâu?</a:t>
            </a:r>
            <a:r>
              <a:rPr lang="vi" sz="1050">
                <a:solidFill>
                  <a:srgbClr val="1F1F1F"/>
                </a:solidFill>
                <a:highlight>
                  <a:srgbClr val="E9EEF6"/>
                </a:highlight>
                <a:latin typeface="Roboto"/>
                <a:ea typeface="Roboto"/>
                <a:cs typeface="Roboto"/>
                <a:sym typeface="Roboto"/>
              </a:rPr>
              <a:t> Hãy nhìn lại bối cảnh vĩ mô 2023-2024: kinh tế đối mặt với khó khăn hậu COVID, dòng tiền yếu, VN30 dao động hẹp (sideway) và giật cục. Thuật toán Trend Following chỉ sống được khi có sóng. Khi thị trường đi ngang trên khung 1 phút, giá đập lên đập xuống đường EMA liên tục, tạo ra hơn 8,400 tín hiệu Whipsaw (nhiễu).Về cơ bản, logic quản trị rủi ro của nhóm vẫn đúng: trung bình mỗi lệnh thắng (gần 178 ngàn) cao hơn trung bình lệnh thua (âm 157 ngàn). Tuy nhiên, vì Win Rate chỉ đạt 37.6%, cộng với việc phải gánh chi phí hoa hồng khổng lồ cho hơn 8,400 lệnh giao dịch, tài khoản đã bị bào mòn đến mức phá sản. Đây là minh chứng rõ ràng nhất cho thấy: Thuật toán có tốt đến đâu, nếu đặt sai khung thời gian và không kiểm soát được tần suất giao dịch (Over-trading), hệ thống chắc chắn sẽ thất bại."</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c3c8016df_0_145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c3c8016df_0_92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a:solidFill>
                  <a:schemeClr val="dk1"/>
                </a:solidFill>
              </a:rPr>
              <a:t>Bước sang dữ liệu Out-of-sample năm 2025, nhóm giữ nguyên 100% bộ tham số (không hề cố tình fit lại model). Bức tranh hiệu suất đã cải thiện một cách ngoạn mục. Mặc dù tổng tài khoản vẫn âm khoảng 66 triệu (-13.34%), nhưng chất lượng các lệnh đánh đã thay đổi hoàn toàn.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vi">
                <a:solidFill>
                  <a:schemeClr val="dk1"/>
                </a:solidFill>
              </a:rPr>
              <a:t>Bối cảnh 2025 có gì khác biệt?</a:t>
            </a:r>
            <a:r>
              <a:rPr lang="vi">
                <a:solidFill>
                  <a:schemeClr val="dk1"/>
                </a:solidFill>
              </a:rPr>
              <a:t> Đây là năm kinh tế bứt phá, dòng vốn trở lại mạnh mẽ, kéo VN30 tăng một mạch từ vùng 1300 lên chạm mốc 2000 điểm. Điều này được phản ánh ngay vào hệ thống giao dịch của nhóm: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vi">
                <a:solidFill>
                  <a:schemeClr val="dk1"/>
                </a:solidFill>
              </a:rPr>
              <a:t>Thứ nhất, số lượng lệnh Long (2,107 lệnh) đã áp đảo hoàn toàn lệnh Short, cho thấy bot tự động 'đánh hơi' và nương theo đúng xu hướng thị trường.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vi">
                <a:solidFill>
                  <a:schemeClr val="dk1"/>
                </a:solidFill>
              </a:rPr>
              <a:t>Thứ hai, </a:t>
            </a:r>
            <a:r>
              <a:rPr b="1" lang="vi">
                <a:solidFill>
                  <a:schemeClr val="dk1"/>
                </a:solidFill>
              </a:rPr>
              <a:t>mức lợi nhuận trung bình mỗi lệnh thắng tăng vọt lên gần 352 ngàn VNĐ (gấp đôi giai đoạn trước)</a:t>
            </a:r>
            <a:r>
              <a:rPr lang="vi">
                <a:solidFill>
                  <a:schemeClr val="dk1"/>
                </a:solidFill>
              </a:rPr>
              <a:t>. Đặc biệt, hệ thống đã bắt được những con sóng cực lớn với </a:t>
            </a:r>
            <a:r>
              <a:rPr b="1" lang="vi">
                <a:solidFill>
                  <a:schemeClr val="dk1"/>
                </a:solidFill>
              </a:rPr>
              <a:t>lệnh lãi kỷ lục lên tới hơn 6.5 triệu VNĐ</a:t>
            </a:r>
            <a:r>
              <a:rPr lang="vi">
                <a:solidFill>
                  <a:schemeClr val="dk1"/>
                </a:solidFill>
              </a:rPr>
              <a:t>, và thời gian gồng lãi trung bình cũng tăng lên gần 11 phút.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Từ những số liệu thực tế này, nhóm rút ra một kết luận sống còn: </a:t>
            </a:r>
            <a:r>
              <a:rPr b="1" lang="vi">
                <a:solidFill>
                  <a:schemeClr val="dk1"/>
                </a:solidFill>
              </a:rPr>
              <a:t>Tín hiệu định hướng của thuật toán EMA hoàn toàn chính xác và có lợi thế thực sự.</a:t>
            </a:r>
            <a:r>
              <a:rPr lang="vi">
                <a:solidFill>
                  <a:schemeClr val="dk1"/>
                </a:solidFill>
              </a:rPr>
              <a:t> Hệ thống đã làm đúng nhiệm vụ là bắt được xu hướng lớn của vĩ mô. Nguyên nhân duy nhất khiến tài khoản vẫn chưa xanh là do gánh nặng của mức phí hoa hồng của gần 4,000 lệnh giao dịch kéo xuống."</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c3c8016df_0_146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c3c8016df_0_105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a:solidFill>
                  <a:schemeClr val="dk1"/>
                </a:solidFill>
              </a:rPr>
              <a:t>"Giai đoạn tiếp theo, nhóm đưa bot vào thử lửa thực tế trên môi trường Paper Trading arena26 của sàn Algotrade. Hệ thống được cấp vốn 500 triệu đồng và giao dịch trực tiếp mã hợp đồng VN30F2604 từ ngày 31/03 đến 03/04/2026.</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Quá trình đưa từ code ra thực tế không hề màu hồng. Nhóm đã vấp phải ba thử thách kỹ thuật lớn:</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vi">
                <a:solidFill>
                  <a:schemeClr val="dk1"/>
                </a:solidFill>
              </a:rPr>
              <a:t>Khó khăn về Auto-sync:</a:t>
            </a:r>
            <a:r>
              <a:rPr lang="vi">
                <a:solidFill>
                  <a:schemeClr val="dk1"/>
                </a:solidFill>
              </a:rPr>
              <a:t> Khi rớt mạng kết nối với FIX API của sàn, việc làm sao để bot khi chạy lại có thể tự quét sổ lệnh (Order Book) và cập nhật đúng số dư (Position) mà không bị nhồi đúp lệnh tốn rất nhiều công sức xử lý.</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vi">
                <a:solidFill>
                  <a:schemeClr val="dk1"/>
                </a:solidFill>
              </a:rPr>
              <a:t>Độ trễ của Telegram (Latency):</a:t>
            </a:r>
            <a:r>
              <a:rPr lang="vi">
                <a:solidFill>
                  <a:schemeClr val="dk1"/>
                </a:solidFill>
              </a:rPr>
              <a:t> Vì chạy trên khung 1 phút, có những lúc thị trường giật mạnh, bot vào lệnh - chốt lời - rồi lại cắt lỗ chỉ trong vòng vài chục giây. Việc đồng bộ luồng xử lý để API Telegram bắn tin nhắn không bị nghẽn (rate limit) hoặc trễ nhịp so với Terminal là một bài toán hóc búa.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vi">
                <a:solidFill>
                  <a:schemeClr val="dk1"/>
                </a:solidFill>
              </a:rPr>
              <a:t>Áp lực tâm lý:</a:t>
            </a:r>
            <a:r>
              <a:rPr lang="vi">
                <a:solidFill>
                  <a:schemeClr val="dk1"/>
                </a:solidFill>
              </a:rPr>
              <a:t> Dù biết là bot tự đánh, nhưng khi theo dõi màn hình Terminal nhảy P&amp;L liên tục, nhìn 77 lệnh liên tiếp được nhồi vào thị trường chỉ trong 4 ngày, cảm giác áp lực và muốn 'tắt bot' luôn thường trực. Rất khó để một trader con người chịu đựng được cường độ giao dịch tần suất cao (HFT) này.</a:t>
            </a:r>
            <a:br>
              <a:rPr lang="vi">
                <a:solidFill>
                  <a:schemeClr val="dk1"/>
                </a:solidFill>
              </a:rPr>
            </a:br>
            <a:br>
              <a:rPr lang="vi">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Về mặt kết quả kế toán, sau 4 ngày, số dư tài khoản lùi về mức 472.2 triệu đồng, tương đương mức âm nhẹ 5.56% (đã tính phí phái sinh 20,000 VNĐ/HĐ và mức ký quỹ 25%).</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Tuy nhiên, đối với Group 13, </a:t>
            </a:r>
            <a:r>
              <a:rPr b="1" lang="vi">
                <a:solidFill>
                  <a:schemeClr val="dk1"/>
                </a:solidFill>
              </a:rPr>
              <a:t>đây là một chiến thắng rực rỡ về mặt quy trình kỹ thuật!</a:t>
            </a:r>
            <a:r>
              <a:rPr lang="vi">
                <a:solidFill>
                  <a:schemeClr val="dk1"/>
                </a:solidFill>
              </a:rPr>
              <a:t> Sổ lệnh Order Book ghi nhận 77 lệnh được đưa vào thị trường đều ở trạng thái 'Filled' (Khớp 100%). Hệ thống xử lý mượt mà, không bị trượt giá (slippage) lớn, tính toán Stop Loss và phí thuế chính xác đến từng đồng so với Backtest. Mức P&amp;L âm này hoàn toàn khớp với kịch bản nhiễu khung 1 phút mà nhóm đã phân tích ở slide trước. Điều này khẳng định bot hoạt động đúng 100% thiết kế.</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Bài học chốt lại: Vũ khí đã sắc bén, thứ duy nhất cần tinh chỉnh là đưa bot lên khung thời gian cao hơn, như 15 phút, 1 giờ hoặc 1 ngày, để thu hoạch được lợi nhuận thực sự từ thị trường."</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c3c8016df_0_147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c3c8016df_0_118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a:solidFill>
                  <a:schemeClr val="dk1"/>
                </a:solidFill>
              </a:rPr>
              <a:t>"Để khép lại phần trình bày, hãy nhìn lại những gì Group 13 đã thực sự làm được. Về mặt thực thi, chúng tôi đã xây dựng thành công một hệ thống giao dịch thuật toán End-to-end, tuân thủ nghiêm ngặt quy trình 9 bước PLUTUS từ lúc định hình giả thuyết cho đến khi cắm bot chạy live trên sàn ảo.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Qua dự án này, giá trị lớn nhất nhóm nhận được không chỉ là kỹ năng lập trình, mà là </a:t>
            </a:r>
            <a:r>
              <a:rPr b="1" lang="vi">
                <a:solidFill>
                  <a:schemeClr val="dk1"/>
                </a:solidFill>
              </a:rPr>
              <a:t>Tư duy thiết kế hệ thống tài chính (System Thinking)</a:t>
            </a:r>
            <a:r>
              <a:rPr lang="vi">
                <a:solidFill>
                  <a:schemeClr val="dk1"/>
                </a:solidFill>
              </a:rPr>
              <a:t>. Chúng tôi đã tự tay giải quyết những bài toán kỹ thuật gai góc nhất: từ việc xử lý dữ liệu tick, mapping các kỳ hạn hợp đồng (rollover) để chống nhiễu data, cho đến việc xử lý độ trễ qua giao thức FIX và tự động hóa các công thức toán học quản trị rủi ro. Chúng tôi cũng thấu hiểu một sự thật phũ phàng của giao dịch tần suất cao: một logic đúng hoàn toàn có thể bị giết chết bởi chi phí hoa hồng và độ nhiễu của khung 1 phút.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vi">
                <a:solidFill>
                  <a:schemeClr val="dk1"/>
                </a:solidFill>
              </a:rPr>
              <a:t>Về hướng đi trong tương lai:</a:t>
            </a:r>
            <a:r>
              <a:rPr lang="vi">
                <a:solidFill>
                  <a:schemeClr val="dk1"/>
                </a:solidFill>
              </a:rPr>
              <a:t> Đến thời điểm hiện tại, </a:t>
            </a:r>
            <a:r>
              <a:rPr b="1" lang="vi">
                <a:solidFill>
                  <a:schemeClr val="dk1"/>
                </a:solidFill>
              </a:rPr>
              <a:t>quy trình và hạ tầng phần mềm của nhóm đã hoàn thiện và cứng cáp 100%</a:t>
            </a:r>
            <a:r>
              <a:rPr lang="vi">
                <a:solidFill>
                  <a:schemeClr val="dk1"/>
                </a:solidFill>
              </a:rPr>
              <a:t>. Chúng tôi đã có sẵn 'đường ray'. Nhiệm vụ tiếp theo sẽ không tập trung vào code phần mềm nữa, mà dịch chuyển hoàn toàn sang </a:t>
            </a:r>
            <a:r>
              <a:rPr b="1" lang="vi">
                <a:solidFill>
                  <a:schemeClr val="dk1"/>
                </a:solidFill>
              </a:rPr>
              <a:t>nghiên cứu định lượng (Quantitative Research)</a:t>
            </a:r>
            <a:r>
              <a:rPr lang="vi">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Dựa trên bài học về hiện tượng Whipsaw, hướng tối ưu hóa sắp tới của nhóm sẽ là nâng chiến lược Trend Following lên các khung thời gian lớn hơn — như 15 phút, 1 giờ hoặc nến Ngày (1D) — để hệ thống có đủ không gian lọc nhiễu và bắt trọn sóng vĩ mô. Đồng thời, thay vì backtest cơ bản, nhóm sẽ đào sâu nghiên cứu các phương pháp kiểm định nâng cao như Walk-forward Optimization hay Monte Carlo, nhằm tìm ra những bộ tham số tối ưu và dẻo dai nhất trước khi thực sự xuống tiền thật.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Dự án này là bước đệm vững chắc để Group 13 tiến sâu hơn vào thế giới Algorithmic Trading. Cảm ơn anh An Đan và các bạn đã dành thời gian theo dõi. Nhóm rất mong nhận được những câu hỏi và góp ý từ hội đồng!"</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c3c8016df_0_2435: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dc3c8016df_6_0)">
  <p:cSld name="Generated (g3dc3c8016df_6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4"/>
          <p:cNvSpPr txBox="1"/>
          <p:nvPr/>
        </p:nvSpPr>
        <p:spPr>
          <a:xfrm>
            <a:off x="478475" y="521100"/>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000">
                <a:solidFill>
                  <a:srgbClr val="00E5FF"/>
                </a:solidFill>
                <a:latin typeface="Montserrat"/>
                <a:ea typeface="Montserrat"/>
                <a:cs typeface="Montserrat"/>
                <a:sym typeface="Montserrat"/>
              </a:rPr>
              <a:t>Presentation</a:t>
            </a:r>
            <a:endParaRPr b="0" sz="2000">
              <a:solidFill>
                <a:srgbClr val="00E5FF"/>
              </a:solidFill>
              <a:latin typeface="Montserrat"/>
              <a:ea typeface="Montserrat"/>
              <a:cs typeface="Montserrat"/>
              <a:sym typeface="Montserrat"/>
            </a:endParaRPr>
          </a:p>
        </p:txBody>
      </p:sp>
      <p:sp>
        <p:nvSpPr>
          <p:cNvPr id="55" name="Google Shape;55;p14"/>
          <p:cNvSpPr txBox="1"/>
          <p:nvPr/>
        </p:nvSpPr>
        <p:spPr>
          <a:xfrm>
            <a:off x="191250" y="1383938"/>
            <a:ext cx="8761500" cy="142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4200">
                <a:solidFill>
                  <a:srgbClr val="FFFFFF"/>
                </a:solidFill>
                <a:latin typeface="Montserrat ExtraBold"/>
                <a:ea typeface="Montserrat ExtraBold"/>
                <a:cs typeface="Montserrat ExtraBold"/>
                <a:sym typeface="Montserrat ExtraBold"/>
              </a:rPr>
              <a:t>Exponential Moving Average (EMA) </a:t>
            </a:r>
            <a:r>
              <a:rPr b="0" lang="vi" sz="4200">
                <a:solidFill>
                  <a:srgbClr val="FFFFFF"/>
                </a:solidFill>
                <a:latin typeface="Montserrat ExtraBold"/>
                <a:ea typeface="Montserrat ExtraBold"/>
                <a:cs typeface="Montserrat ExtraBold"/>
                <a:sym typeface="Montserrat ExtraBold"/>
              </a:rPr>
              <a:t>Trading System</a:t>
            </a:r>
            <a:endParaRPr b="0" sz="4200">
              <a:solidFill>
                <a:srgbClr val="FFFFFF"/>
              </a:solidFill>
              <a:latin typeface="Montserrat ExtraBold"/>
              <a:ea typeface="Montserrat ExtraBold"/>
              <a:cs typeface="Montserrat ExtraBold"/>
              <a:sym typeface="Montserrat ExtraBold"/>
            </a:endParaRPr>
          </a:p>
        </p:txBody>
      </p:sp>
      <p:pic>
        <p:nvPicPr>
          <p:cNvPr id="56" name="Google Shape;56;p14"/>
          <p:cNvPicPr preferRelativeResize="0"/>
          <p:nvPr/>
        </p:nvPicPr>
        <p:blipFill rotWithShape="1">
          <a:blip r:embed="rId4">
            <a:alphaModFix/>
          </a:blip>
          <a:srcRect b="0" l="0" r="0" t="0"/>
          <a:stretch/>
        </p:blipFill>
        <p:spPr>
          <a:xfrm>
            <a:off x="3342975" y="3002213"/>
            <a:ext cx="2286000" cy="28500"/>
          </a:xfrm>
          <a:prstGeom prst="rect">
            <a:avLst/>
          </a:prstGeom>
          <a:noFill/>
          <a:ln>
            <a:noFill/>
          </a:ln>
        </p:spPr>
      </p:pic>
      <p:sp>
        <p:nvSpPr>
          <p:cNvPr id="57" name="Google Shape;57;p14"/>
          <p:cNvSpPr txBox="1"/>
          <p:nvPr/>
        </p:nvSpPr>
        <p:spPr>
          <a:xfrm>
            <a:off x="478475" y="65825"/>
            <a:ext cx="4286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700">
                <a:solidFill>
                  <a:srgbClr val="B0BEC5"/>
                </a:solidFill>
                <a:latin typeface="Roboto Light"/>
                <a:ea typeface="Roboto Light"/>
                <a:cs typeface="Roboto Light"/>
                <a:sym typeface="Roboto Light"/>
              </a:rPr>
              <a:t>Course: </a:t>
            </a:r>
            <a:r>
              <a:rPr b="0" lang="vi" sz="1700">
                <a:solidFill>
                  <a:srgbClr val="B0BEC5"/>
                </a:solidFill>
                <a:latin typeface="Roboto Light"/>
                <a:ea typeface="Roboto Light"/>
                <a:cs typeface="Roboto Light"/>
                <a:sym typeface="Roboto Light"/>
              </a:rPr>
              <a:t>Computational Finance</a:t>
            </a:r>
            <a:endParaRPr b="0" sz="1700">
              <a:solidFill>
                <a:srgbClr val="B0BEC5"/>
              </a:solidFill>
              <a:latin typeface="Roboto Light"/>
              <a:ea typeface="Roboto Light"/>
              <a:cs typeface="Roboto Light"/>
              <a:sym typeface="Roboto Light"/>
            </a:endParaRPr>
          </a:p>
        </p:txBody>
      </p:sp>
      <p:grpSp>
        <p:nvGrpSpPr>
          <p:cNvPr id="58" name="Google Shape;58;p14"/>
          <p:cNvGrpSpPr/>
          <p:nvPr/>
        </p:nvGrpSpPr>
        <p:grpSpPr>
          <a:xfrm>
            <a:off x="2381250" y="3559475"/>
            <a:ext cx="2095500" cy="428700"/>
            <a:chOff x="0" y="0"/>
            <a:chExt cx="2095500" cy="428700"/>
          </a:xfrm>
        </p:grpSpPr>
        <p:sp>
          <p:nvSpPr>
            <p:cNvPr id="59" name="Google Shape;59;p14"/>
            <p:cNvSpPr/>
            <p:nvPr/>
          </p:nvSpPr>
          <p:spPr>
            <a:xfrm>
              <a:off x="0" y="0"/>
              <a:ext cx="2095500" cy="428700"/>
            </a:xfrm>
            <a:prstGeom prst="roundRect">
              <a:avLst>
                <a:gd fmla="val 8888" name="adj"/>
              </a:avLst>
            </a:prstGeom>
            <a:solidFill>
              <a:srgbClr val="1A237E"/>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60" name="Google Shape;60;p14"/>
            <p:cNvSpPr txBox="1"/>
            <p:nvPr/>
          </p:nvSpPr>
          <p:spPr>
            <a:xfrm>
              <a:off x="142875" y="0"/>
              <a:ext cx="18096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200">
                  <a:solidFill>
                    <a:srgbClr val="FFFFFF"/>
                  </a:solidFill>
                  <a:latin typeface="Roboto Mono Medium"/>
                  <a:ea typeface="Roboto Mono Medium"/>
                  <a:cs typeface="Roboto Mono Medium"/>
                  <a:sym typeface="Roboto Mono Medium"/>
                </a:rPr>
                <a:t>ID: 20125075</a:t>
              </a:r>
              <a:endParaRPr b="0" sz="1200">
                <a:solidFill>
                  <a:srgbClr val="FFFFFF"/>
                </a:solidFill>
                <a:latin typeface="Roboto Mono Medium"/>
                <a:ea typeface="Roboto Mono Medium"/>
                <a:cs typeface="Roboto Mono Medium"/>
                <a:sym typeface="Roboto Mono Medium"/>
              </a:endParaRPr>
            </a:p>
          </p:txBody>
        </p:sp>
      </p:grpSp>
      <p:grpSp>
        <p:nvGrpSpPr>
          <p:cNvPr id="61" name="Google Shape;61;p14"/>
          <p:cNvGrpSpPr/>
          <p:nvPr/>
        </p:nvGrpSpPr>
        <p:grpSpPr>
          <a:xfrm>
            <a:off x="4667250" y="3559475"/>
            <a:ext cx="2095500" cy="428700"/>
            <a:chOff x="0" y="0"/>
            <a:chExt cx="2095500" cy="428700"/>
          </a:xfrm>
        </p:grpSpPr>
        <p:sp>
          <p:nvSpPr>
            <p:cNvPr id="62" name="Google Shape;62;p14"/>
            <p:cNvSpPr/>
            <p:nvPr/>
          </p:nvSpPr>
          <p:spPr>
            <a:xfrm>
              <a:off x="0" y="0"/>
              <a:ext cx="2095500" cy="428700"/>
            </a:xfrm>
            <a:prstGeom prst="roundRect">
              <a:avLst>
                <a:gd fmla="val 8888" name="adj"/>
              </a:avLst>
            </a:prstGeom>
            <a:solidFill>
              <a:srgbClr val="006064"/>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63" name="Google Shape;63;p14"/>
            <p:cNvSpPr txBox="1"/>
            <p:nvPr/>
          </p:nvSpPr>
          <p:spPr>
            <a:xfrm>
              <a:off x="142875" y="0"/>
              <a:ext cx="18096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200">
                  <a:solidFill>
                    <a:srgbClr val="FFFFFF"/>
                  </a:solidFill>
                  <a:latin typeface="Roboto Mono Medium"/>
                  <a:ea typeface="Roboto Mono Medium"/>
                  <a:cs typeface="Roboto Mono Medium"/>
                  <a:sym typeface="Roboto Mono Medium"/>
                </a:rPr>
                <a:t>H</a:t>
              </a:r>
              <a:r>
                <a:rPr lang="vi" sz="1200">
                  <a:solidFill>
                    <a:srgbClr val="FFFFFF"/>
                  </a:solidFill>
                  <a:latin typeface="Roboto Mono Medium"/>
                  <a:ea typeface="Roboto Mono Medium"/>
                  <a:cs typeface="Roboto Mono Medium"/>
                  <a:sym typeface="Roboto Mono Medium"/>
                </a:rPr>
                <a:t>à</a:t>
              </a:r>
              <a:r>
                <a:rPr b="0" lang="vi" sz="1200">
                  <a:solidFill>
                    <a:srgbClr val="FFFFFF"/>
                  </a:solidFill>
                  <a:latin typeface="Roboto Mono Medium"/>
                  <a:ea typeface="Roboto Mono Medium"/>
                  <a:cs typeface="Roboto Mono Medium"/>
                  <a:sym typeface="Roboto Mono Medium"/>
                </a:rPr>
                <a:t> Gia Khang</a:t>
              </a:r>
              <a:endParaRPr b="0" sz="1200">
                <a:solidFill>
                  <a:srgbClr val="FFFFFF"/>
                </a:solidFill>
                <a:latin typeface="Roboto Mono Medium"/>
                <a:ea typeface="Roboto Mono Medium"/>
                <a:cs typeface="Roboto Mono Medium"/>
                <a:sym typeface="Roboto Mono Medium"/>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15"/>
          <p:cNvSpPr txBox="1"/>
          <p:nvPr/>
        </p:nvSpPr>
        <p:spPr>
          <a:xfrm>
            <a:off x="306475" y="1787197"/>
            <a:ext cx="8761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4200">
                <a:solidFill>
                  <a:srgbClr val="00E5FF"/>
                </a:solidFill>
                <a:latin typeface="Montserrat"/>
                <a:ea typeface="Montserrat"/>
                <a:cs typeface="Montserrat"/>
                <a:sym typeface="Montserrat"/>
              </a:rPr>
              <a:t>01. Introduction &amp; Objectives</a:t>
            </a:r>
            <a:endParaRPr b="1" sz="4200">
              <a:solidFill>
                <a:srgbClr val="00E5FF"/>
              </a:solidFill>
              <a:latin typeface="Montserrat"/>
              <a:ea typeface="Montserrat"/>
              <a:cs typeface="Montserrat"/>
              <a:sym typeface="Montserrat"/>
            </a:endParaRPr>
          </a:p>
          <a:p>
            <a:pPr indent="0" lvl="0" marL="0" rtl="0" algn="ctr">
              <a:spcBef>
                <a:spcPts val="0"/>
              </a:spcBef>
              <a:spcAft>
                <a:spcPts val="0"/>
              </a:spcAft>
              <a:buNone/>
            </a:pPr>
            <a:r>
              <a:t/>
            </a:r>
            <a:endParaRPr sz="4200">
              <a:solidFill>
                <a:srgbClr val="FFFFFF"/>
              </a:solidFill>
              <a:latin typeface="Montserrat ExtraBold"/>
              <a:ea typeface="Montserrat ExtraBold"/>
              <a:cs typeface="Montserrat ExtraBold"/>
              <a:sym typeface="Montserrat ExtraBold"/>
            </a:endParaRPr>
          </a:p>
        </p:txBody>
      </p:sp>
      <p:pic>
        <p:nvPicPr>
          <p:cNvPr id="68" name="Google Shape;68;p15"/>
          <p:cNvPicPr preferRelativeResize="0"/>
          <p:nvPr/>
        </p:nvPicPr>
        <p:blipFill rotWithShape="1">
          <a:blip r:embed="rId4">
            <a:alphaModFix/>
          </a:blip>
          <a:srcRect b="0" l="0" r="0" t="0"/>
          <a:stretch/>
        </p:blipFill>
        <p:spPr>
          <a:xfrm>
            <a:off x="306475" y="2729347"/>
            <a:ext cx="2286000" cy="28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71" name="Shape 71"/>
        <p:cNvGrpSpPr/>
        <p:nvPr/>
      </p:nvGrpSpPr>
      <p:grpSpPr>
        <a:xfrm>
          <a:off x="0" y="0"/>
          <a:ext cx="0" cy="0"/>
          <a:chOff x="0" y="0"/>
          <a:chExt cx="0" cy="0"/>
        </a:xfrm>
      </p:grpSpPr>
      <p:pic>
        <p:nvPicPr>
          <p:cNvPr id="72" name="Google Shape;72;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3" name="Google Shape;73;p16"/>
          <p:cNvSpPr txBox="1"/>
          <p:nvPr/>
        </p:nvSpPr>
        <p:spPr>
          <a:xfrm>
            <a:off x="416675" y="166933"/>
            <a:ext cx="4286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1600">
                <a:solidFill>
                  <a:srgbClr val="00E5FF"/>
                </a:solidFill>
                <a:latin typeface="Montserrat"/>
                <a:ea typeface="Montserrat"/>
                <a:cs typeface="Montserrat"/>
                <a:sym typeface="Montserrat"/>
              </a:rPr>
              <a:t>01. Introduction &amp; Objectives</a:t>
            </a:r>
            <a:endParaRPr b="0" sz="1600">
              <a:solidFill>
                <a:srgbClr val="00E5FF"/>
              </a:solidFill>
              <a:latin typeface="Montserrat"/>
              <a:ea typeface="Montserrat"/>
              <a:cs typeface="Montserrat"/>
              <a:sym typeface="Montserrat"/>
            </a:endParaRPr>
          </a:p>
        </p:txBody>
      </p:sp>
      <p:sp>
        <p:nvSpPr>
          <p:cNvPr id="74" name="Google Shape;74;p16"/>
          <p:cNvSpPr txBox="1"/>
          <p:nvPr/>
        </p:nvSpPr>
        <p:spPr>
          <a:xfrm>
            <a:off x="0" y="547933"/>
            <a:ext cx="4765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960">
                <a:solidFill>
                  <a:srgbClr val="FFFFFF"/>
                </a:solidFill>
                <a:latin typeface="Montserrat ExtraBold"/>
                <a:ea typeface="Montserrat ExtraBold"/>
                <a:cs typeface="Montserrat ExtraBold"/>
                <a:sym typeface="Montserrat ExtraBold"/>
              </a:rPr>
              <a:t>Building Automated Trading Infrastructure</a:t>
            </a:r>
            <a:endParaRPr b="0" sz="2960">
              <a:solidFill>
                <a:srgbClr val="FFFFFF"/>
              </a:solidFill>
              <a:latin typeface="Montserrat ExtraBold"/>
              <a:ea typeface="Montserrat ExtraBold"/>
              <a:cs typeface="Montserrat ExtraBold"/>
              <a:sym typeface="Montserrat ExtraBold"/>
            </a:endParaRPr>
          </a:p>
        </p:txBody>
      </p:sp>
      <p:sp>
        <p:nvSpPr>
          <p:cNvPr id="75" name="Google Shape;75;p16"/>
          <p:cNvSpPr/>
          <p:nvPr/>
        </p:nvSpPr>
        <p:spPr>
          <a:xfrm>
            <a:off x="130800" y="1547733"/>
            <a:ext cx="7620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6"/>
          <p:cNvSpPr txBox="1"/>
          <p:nvPr/>
        </p:nvSpPr>
        <p:spPr>
          <a:xfrm>
            <a:off x="1199200" y="1792008"/>
            <a:ext cx="7059000" cy="81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1815">
                <a:solidFill>
                  <a:srgbClr val="B0BEC5"/>
                </a:solidFill>
                <a:latin typeface="Roboto Light"/>
                <a:ea typeface="Roboto Light"/>
                <a:cs typeface="Roboto Light"/>
                <a:sym typeface="Roboto Light"/>
              </a:rPr>
              <a:t>Developing a comprehensive system from concept to implementation of a virtual trading platform, optimizing profits through technology.</a:t>
            </a:r>
            <a:endParaRPr b="0" sz="1815">
              <a:solidFill>
                <a:srgbClr val="B0BEC5"/>
              </a:solidFill>
              <a:latin typeface="Roboto Light"/>
              <a:ea typeface="Roboto Light"/>
              <a:cs typeface="Roboto Light"/>
              <a:sym typeface="Roboto Light"/>
            </a:endParaRPr>
          </a:p>
        </p:txBody>
      </p:sp>
      <p:grpSp>
        <p:nvGrpSpPr>
          <p:cNvPr id="77" name="Google Shape;77;p16"/>
          <p:cNvGrpSpPr/>
          <p:nvPr/>
        </p:nvGrpSpPr>
        <p:grpSpPr>
          <a:xfrm>
            <a:off x="1277883" y="2933240"/>
            <a:ext cx="3293965" cy="1364456"/>
            <a:chOff x="571500" y="2857500"/>
            <a:chExt cx="2000100" cy="952500"/>
          </a:xfrm>
        </p:grpSpPr>
        <p:sp>
          <p:nvSpPr>
            <p:cNvPr id="78" name="Google Shape;78;p16"/>
            <p:cNvSpPr/>
            <p:nvPr/>
          </p:nvSpPr>
          <p:spPr>
            <a:xfrm>
              <a:off x="571500" y="2857500"/>
              <a:ext cx="2000100" cy="952500"/>
            </a:xfrm>
            <a:prstGeom prst="roundRect">
              <a:avLst>
                <a:gd fmla="val 4000" name="adj"/>
              </a:avLst>
            </a:prstGeom>
            <a:solidFill>
              <a:srgbClr val="1A237E">
                <a:alpha val="40000"/>
              </a:srgbClr>
            </a:solidFill>
            <a:ln cap="flat" cmpd="sng" w="123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074"/>
            </a:p>
          </p:txBody>
        </p:sp>
        <p:sp>
          <p:nvSpPr>
            <p:cNvPr id="79" name="Google Shape;79;p16"/>
            <p:cNvSpPr txBox="1"/>
            <p:nvPr/>
          </p:nvSpPr>
          <p:spPr>
            <a:xfrm>
              <a:off x="714375" y="2952750"/>
              <a:ext cx="1714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1685">
                  <a:solidFill>
                    <a:srgbClr val="00E5FF"/>
                  </a:solidFill>
                  <a:latin typeface="Roboto Mono Medium"/>
                  <a:ea typeface="Roboto Mono Medium"/>
                  <a:cs typeface="Roboto Mono Medium"/>
                  <a:sym typeface="Roboto Mono Medium"/>
                </a:rPr>
                <a:t>STRATEGY:</a:t>
              </a:r>
              <a:endParaRPr b="0" sz="1685">
                <a:solidFill>
                  <a:srgbClr val="00E5FF"/>
                </a:solidFill>
                <a:latin typeface="Roboto Mono Medium"/>
                <a:ea typeface="Roboto Mono Medium"/>
                <a:cs typeface="Roboto Mono Medium"/>
                <a:sym typeface="Roboto Mono Medium"/>
              </a:endParaRPr>
            </a:p>
          </p:txBody>
        </p:sp>
        <p:sp>
          <p:nvSpPr>
            <p:cNvPr id="80" name="Google Shape;80;p16"/>
            <p:cNvSpPr txBox="1"/>
            <p:nvPr/>
          </p:nvSpPr>
          <p:spPr>
            <a:xfrm>
              <a:off x="714375" y="3238500"/>
              <a:ext cx="1714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1556">
                  <a:solidFill>
                    <a:srgbClr val="FFFFFF"/>
                  </a:solidFill>
                  <a:latin typeface="Roboto"/>
                  <a:ea typeface="Roboto"/>
                  <a:cs typeface="Roboto"/>
                  <a:sym typeface="Roboto"/>
                </a:rPr>
                <a:t>Trend Following: Stay close to the trend to catch the big waves.</a:t>
              </a:r>
              <a:endParaRPr b="0" sz="1556">
                <a:solidFill>
                  <a:srgbClr val="FFFFFF"/>
                </a:solidFill>
                <a:latin typeface="Roboto"/>
                <a:ea typeface="Roboto"/>
                <a:cs typeface="Roboto"/>
                <a:sym typeface="Roboto"/>
              </a:endParaRPr>
            </a:p>
          </p:txBody>
        </p:sp>
      </p:grpSp>
      <p:grpSp>
        <p:nvGrpSpPr>
          <p:cNvPr id="81" name="Google Shape;81;p16"/>
          <p:cNvGrpSpPr/>
          <p:nvPr/>
        </p:nvGrpSpPr>
        <p:grpSpPr>
          <a:xfrm>
            <a:off x="4885829" y="2933240"/>
            <a:ext cx="3293965" cy="1364456"/>
            <a:chOff x="2762250" y="2857500"/>
            <a:chExt cx="2000100" cy="952500"/>
          </a:xfrm>
        </p:grpSpPr>
        <p:sp>
          <p:nvSpPr>
            <p:cNvPr id="82" name="Google Shape;82;p16"/>
            <p:cNvSpPr/>
            <p:nvPr/>
          </p:nvSpPr>
          <p:spPr>
            <a:xfrm>
              <a:off x="2762250" y="2857500"/>
              <a:ext cx="2000100" cy="952500"/>
            </a:xfrm>
            <a:prstGeom prst="roundRect">
              <a:avLst>
                <a:gd fmla="val 4000" name="adj"/>
              </a:avLst>
            </a:prstGeom>
            <a:solidFill>
              <a:srgbClr val="006064">
                <a:alpha val="40000"/>
              </a:srgbClr>
            </a:solidFill>
            <a:ln cap="flat" cmpd="sng" w="12350">
              <a:solidFill>
                <a:srgbClr val="00606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074"/>
            </a:p>
          </p:txBody>
        </p:sp>
        <p:sp>
          <p:nvSpPr>
            <p:cNvPr id="83" name="Google Shape;83;p16"/>
            <p:cNvSpPr txBox="1"/>
            <p:nvPr/>
          </p:nvSpPr>
          <p:spPr>
            <a:xfrm>
              <a:off x="2905125" y="2952750"/>
              <a:ext cx="1714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1685">
                  <a:solidFill>
                    <a:srgbClr val="00E5FF"/>
                  </a:solidFill>
                  <a:latin typeface="Roboto Mono Medium"/>
                  <a:ea typeface="Roboto Mono Medium"/>
                  <a:cs typeface="Roboto Mono Medium"/>
                  <a:sym typeface="Roboto Mono Medium"/>
                </a:rPr>
                <a:t>THE CORE PROBLEM</a:t>
              </a:r>
              <a:endParaRPr b="0" sz="1685">
                <a:solidFill>
                  <a:srgbClr val="00E5FF"/>
                </a:solidFill>
                <a:latin typeface="Roboto Mono Medium"/>
                <a:ea typeface="Roboto Mono Medium"/>
                <a:cs typeface="Roboto Mono Medium"/>
                <a:sym typeface="Roboto Mono Medium"/>
              </a:endParaRPr>
            </a:p>
          </p:txBody>
        </p:sp>
        <p:sp>
          <p:nvSpPr>
            <p:cNvPr id="84" name="Google Shape;84;p16"/>
            <p:cNvSpPr txBox="1"/>
            <p:nvPr/>
          </p:nvSpPr>
          <p:spPr>
            <a:xfrm>
              <a:off x="2905125" y="3238500"/>
              <a:ext cx="18114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1556">
                  <a:solidFill>
                    <a:srgbClr val="FFFFFF"/>
                  </a:solidFill>
                  <a:latin typeface="Roboto"/>
                  <a:ea typeface="Roboto"/>
                  <a:cs typeface="Roboto"/>
                  <a:sym typeface="Roboto"/>
                </a:rPr>
                <a:t>Eliminate emotional biases and maintain absolute discipline in the derivatives market.</a:t>
              </a:r>
              <a:endParaRPr b="0" sz="1556">
                <a:solidFill>
                  <a:srgbClr val="FFFFFF"/>
                </a:solidFill>
                <a:latin typeface="Roboto"/>
                <a:ea typeface="Roboto"/>
                <a:cs typeface="Roboto"/>
                <a:sym typeface="Roboto"/>
              </a:endParaRPr>
            </a:p>
          </p:txBody>
        </p:sp>
      </p:grpSp>
      <p:pic>
        <p:nvPicPr>
          <p:cNvPr id="85" name="Google Shape;85;p16"/>
          <p:cNvPicPr preferRelativeResize="0"/>
          <p:nvPr/>
        </p:nvPicPr>
        <p:blipFill rotWithShape="1">
          <a:blip r:embed="rId4">
            <a:alphaModFix/>
          </a:blip>
          <a:srcRect b="1006719" l="-4504" r="70819" t="-199505"/>
          <a:stretch/>
        </p:blipFill>
        <p:spPr>
          <a:xfrm flipH="1" rot="10800000">
            <a:off x="571500" y="4078922"/>
            <a:ext cx="4191000" cy="201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7"/>
          <p:cNvSpPr txBox="1"/>
          <p:nvPr/>
        </p:nvSpPr>
        <p:spPr>
          <a:xfrm>
            <a:off x="306475" y="1787197"/>
            <a:ext cx="8761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4200">
                <a:solidFill>
                  <a:srgbClr val="00E5FF"/>
                </a:solidFill>
                <a:latin typeface="Montserrat"/>
                <a:ea typeface="Montserrat"/>
                <a:cs typeface="Montserrat"/>
                <a:sym typeface="Montserrat"/>
              </a:rPr>
              <a:t>2. Hypothesis &amp; Architecture</a:t>
            </a:r>
            <a:endParaRPr b="1" sz="4200">
              <a:solidFill>
                <a:srgbClr val="00E5FF"/>
              </a:solidFill>
              <a:latin typeface="Montserrat"/>
              <a:ea typeface="Montserrat"/>
              <a:cs typeface="Montserrat"/>
              <a:sym typeface="Montserrat"/>
            </a:endParaRPr>
          </a:p>
          <a:p>
            <a:pPr indent="0" lvl="0" marL="0" rtl="0" algn="ctr">
              <a:spcBef>
                <a:spcPts val="0"/>
              </a:spcBef>
              <a:spcAft>
                <a:spcPts val="0"/>
              </a:spcAft>
              <a:buNone/>
            </a:pPr>
            <a:r>
              <a:t/>
            </a:r>
            <a:endParaRPr sz="4200">
              <a:solidFill>
                <a:srgbClr val="FFFFFF"/>
              </a:solidFill>
              <a:latin typeface="Montserrat ExtraBold"/>
              <a:ea typeface="Montserrat ExtraBold"/>
              <a:cs typeface="Montserrat ExtraBold"/>
              <a:sym typeface="Montserrat ExtraBold"/>
            </a:endParaRPr>
          </a:p>
        </p:txBody>
      </p:sp>
      <p:pic>
        <p:nvPicPr>
          <p:cNvPr id="90" name="Google Shape;90;p17"/>
          <p:cNvPicPr preferRelativeResize="0"/>
          <p:nvPr/>
        </p:nvPicPr>
        <p:blipFill rotWithShape="1">
          <a:blip r:embed="rId4">
            <a:alphaModFix/>
          </a:blip>
          <a:srcRect b="0" l="0" r="0" t="0"/>
          <a:stretch/>
        </p:blipFill>
        <p:spPr>
          <a:xfrm>
            <a:off x="306475" y="2729347"/>
            <a:ext cx="2286000" cy="28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93" name="Shape 93"/>
        <p:cNvGrpSpPr/>
        <p:nvPr/>
      </p:nvGrpSpPr>
      <p:grpSpPr>
        <a:xfrm>
          <a:off x="0" y="0"/>
          <a:ext cx="0" cy="0"/>
          <a:chOff x="0" y="0"/>
          <a:chExt cx="0" cy="0"/>
        </a:xfrm>
      </p:grpSpPr>
      <p:grpSp>
        <p:nvGrpSpPr>
          <p:cNvPr id="94" name="Google Shape;94;p18"/>
          <p:cNvGrpSpPr/>
          <p:nvPr/>
        </p:nvGrpSpPr>
        <p:grpSpPr>
          <a:xfrm>
            <a:off x="54500" y="51175"/>
            <a:ext cx="4953000" cy="1333500"/>
            <a:chOff x="54500" y="51175"/>
            <a:chExt cx="4953000" cy="1333500"/>
          </a:xfrm>
        </p:grpSpPr>
        <p:sp>
          <p:nvSpPr>
            <p:cNvPr id="95" name="Google Shape;95;p18"/>
            <p:cNvSpPr txBox="1"/>
            <p:nvPr/>
          </p:nvSpPr>
          <p:spPr>
            <a:xfrm>
              <a:off x="54500" y="51175"/>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600">
                  <a:solidFill>
                    <a:srgbClr val="00E5FF"/>
                  </a:solidFill>
                  <a:latin typeface="Montserrat"/>
                  <a:ea typeface="Montserrat"/>
                  <a:cs typeface="Montserrat"/>
                  <a:sym typeface="Montserrat"/>
                </a:rPr>
                <a:t>02. Hypothesis &amp; Architecture</a:t>
              </a:r>
              <a:endParaRPr b="0" sz="1600">
                <a:solidFill>
                  <a:srgbClr val="00E5FF"/>
                </a:solidFill>
                <a:latin typeface="Montserrat"/>
                <a:ea typeface="Montserrat"/>
                <a:cs typeface="Montserrat"/>
                <a:sym typeface="Montserrat"/>
              </a:endParaRPr>
            </a:p>
          </p:txBody>
        </p:sp>
        <p:sp>
          <p:nvSpPr>
            <p:cNvPr id="96" name="Google Shape;96;p18"/>
            <p:cNvSpPr txBox="1"/>
            <p:nvPr/>
          </p:nvSpPr>
          <p:spPr>
            <a:xfrm>
              <a:off x="54500" y="432175"/>
              <a:ext cx="4953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960">
                  <a:solidFill>
                    <a:srgbClr val="FFFFFF"/>
                  </a:solidFill>
                  <a:latin typeface="Montserrat ExtraBold"/>
                  <a:ea typeface="Montserrat ExtraBold"/>
                  <a:cs typeface="Montserrat ExtraBold"/>
                  <a:sym typeface="Montserrat ExtraBold"/>
                </a:rPr>
                <a:t>Trading Logic &amp; System Infrastructure</a:t>
              </a:r>
              <a:endParaRPr b="0" sz="2960">
                <a:solidFill>
                  <a:srgbClr val="FFFFFF"/>
                </a:solidFill>
                <a:latin typeface="Montserrat ExtraBold"/>
                <a:ea typeface="Montserrat ExtraBold"/>
                <a:cs typeface="Montserrat ExtraBold"/>
                <a:sym typeface="Montserrat ExtraBold"/>
              </a:endParaRPr>
            </a:p>
          </p:txBody>
        </p:sp>
      </p:grpSp>
      <p:grpSp>
        <p:nvGrpSpPr>
          <p:cNvPr id="97" name="Google Shape;97;p18"/>
          <p:cNvGrpSpPr/>
          <p:nvPr/>
        </p:nvGrpSpPr>
        <p:grpSpPr>
          <a:xfrm>
            <a:off x="144763" y="1621225"/>
            <a:ext cx="4257229" cy="1655178"/>
            <a:chOff x="0" y="0"/>
            <a:chExt cx="2381400" cy="1143000"/>
          </a:xfrm>
        </p:grpSpPr>
        <p:sp>
          <p:nvSpPr>
            <p:cNvPr id="98" name="Google Shape;98;p18"/>
            <p:cNvSpPr/>
            <p:nvPr/>
          </p:nvSpPr>
          <p:spPr>
            <a:xfrm>
              <a:off x="0" y="0"/>
              <a:ext cx="2381400" cy="1143000"/>
            </a:xfrm>
            <a:prstGeom prst="roundRect">
              <a:avLst>
                <a:gd fmla="val 3333" name="adj"/>
              </a:avLst>
            </a:prstGeom>
            <a:solidFill>
              <a:srgbClr val="1A237E">
                <a:alpha val="20000"/>
              </a:srgbClr>
            </a:solidFill>
            <a:ln cap="flat" cmpd="sng" w="127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138"/>
            </a:p>
          </p:txBody>
        </p:sp>
        <p:sp>
          <p:nvSpPr>
            <p:cNvPr id="99" name="Google Shape;99;p18"/>
            <p:cNvSpPr txBox="1"/>
            <p:nvPr/>
          </p:nvSpPr>
          <p:spPr>
            <a:xfrm>
              <a:off x="142875" y="142875"/>
              <a:ext cx="2095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751">
                  <a:solidFill>
                    <a:srgbClr val="00E5FF"/>
                  </a:solidFill>
                  <a:latin typeface="Roboto Mono Medium"/>
                  <a:ea typeface="Roboto Mono Medium"/>
                  <a:cs typeface="Roboto Mono Medium"/>
                  <a:sym typeface="Roboto Mono Medium"/>
                </a:rPr>
                <a:t>THE TREND HYPOTHESIS</a:t>
              </a:r>
              <a:endParaRPr b="0" sz="1751">
                <a:solidFill>
                  <a:srgbClr val="00E5FF"/>
                </a:solidFill>
                <a:latin typeface="Roboto Mono Medium"/>
                <a:ea typeface="Roboto Mono Medium"/>
                <a:cs typeface="Roboto Mono Medium"/>
                <a:sym typeface="Roboto Mono Medium"/>
              </a:endParaRPr>
            </a:p>
            <a:p>
              <a:pPr indent="0" lvl="0" marL="0" rtl="0" algn="l">
                <a:spcBef>
                  <a:spcPts val="802"/>
                </a:spcBef>
                <a:spcAft>
                  <a:spcPts val="0"/>
                </a:spcAft>
                <a:buNone/>
              </a:pPr>
              <a:r>
                <a:rPr b="0" lang="vi" sz="1627">
                  <a:solidFill>
                    <a:srgbClr val="B0BEC5"/>
                  </a:solidFill>
                  <a:latin typeface="Roboto Light"/>
                  <a:ea typeface="Roboto Light"/>
                  <a:cs typeface="Roboto Light"/>
                  <a:sym typeface="Roboto Light"/>
                </a:rPr>
                <a:t>VN market is macro-driven. Trend following maximizes profits by riding institutional waves and clear directional signals.</a:t>
              </a:r>
              <a:endParaRPr b="0" sz="1627">
                <a:solidFill>
                  <a:srgbClr val="B0BEC5"/>
                </a:solidFill>
                <a:latin typeface="Roboto Light"/>
                <a:ea typeface="Roboto Light"/>
                <a:cs typeface="Roboto Light"/>
                <a:sym typeface="Roboto Light"/>
              </a:endParaRPr>
            </a:p>
          </p:txBody>
        </p:sp>
      </p:grpSp>
      <p:grpSp>
        <p:nvGrpSpPr>
          <p:cNvPr id="100" name="Google Shape;100;p18"/>
          <p:cNvGrpSpPr/>
          <p:nvPr/>
        </p:nvGrpSpPr>
        <p:grpSpPr>
          <a:xfrm>
            <a:off x="4741805" y="1621225"/>
            <a:ext cx="4257229" cy="1655178"/>
            <a:chOff x="0" y="0"/>
            <a:chExt cx="2381400" cy="1143000"/>
          </a:xfrm>
        </p:grpSpPr>
        <p:sp>
          <p:nvSpPr>
            <p:cNvPr id="101" name="Google Shape;101;p18"/>
            <p:cNvSpPr/>
            <p:nvPr/>
          </p:nvSpPr>
          <p:spPr>
            <a:xfrm>
              <a:off x="0" y="0"/>
              <a:ext cx="2381400" cy="1143000"/>
            </a:xfrm>
            <a:prstGeom prst="roundRect">
              <a:avLst>
                <a:gd fmla="val 3333" name="adj"/>
              </a:avLst>
            </a:prstGeom>
            <a:solidFill>
              <a:srgbClr val="006064">
                <a:alpha val="20000"/>
              </a:srgbClr>
            </a:solidFill>
            <a:ln cap="flat" cmpd="sng" w="12750">
              <a:solidFill>
                <a:srgbClr val="00606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138"/>
            </a:p>
          </p:txBody>
        </p:sp>
        <p:sp>
          <p:nvSpPr>
            <p:cNvPr id="102" name="Google Shape;102;p18"/>
            <p:cNvSpPr txBox="1"/>
            <p:nvPr/>
          </p:nvSpPr>
          <p:spPr>
            <a:xfrm>
              <a:off x="142875" y="142875"/>
              <a:ext cx="2095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751">
                  <a:solidFill>
                    <a:srgbClr val="00E5FF"/>
                  </a:solidFill>
                  <a:latin typeface="Roboto Mono Medium"/>
                  <a:ea typeface="Roboto Mono Medium"/>
                  <a:cs typeface="Roboto Mono Medium"/>
                  <a:sym typeface="Roboto Mono Medium"/>
                </a:rPr>
                <a:t>TECH STACK</a:t>
              </a:r>
              <a:endParaRPr b="0" sz="1751">
                <a:solidFill>
                  <a:srgbClr val="00E5FF"/>
                </a:solidFill>
                <a:latin typeface="Roboto Mono Medium"/>
                <a:ea typeface="Roboto Mono Medium"/>
                <a:cs typeface="Roboto Mono Medium"/>
                <a:sym typeface="Roboto Mono Medium"/>
              </a:endParaRPr>
            </a:p>
            <a:p>
              <a:pPr indent="0" lvl="0" marL="0" rtl="0" algn="l">
                <a:spcBef>
                  <a:spcPts val="802"/>
                </a:spcBef>
                <a:spcAft>
                  <a:spcPts val="0"/>
                </a:spcAft>
                <a:buNone/>
              </a:pPr>
              <a:r>
                <a:rPr b="0" lang="vi" sz="1627">
                  <a:solidFill>
                    <a:srgbClr val="B0BEC5"/>
                  </a:solidFill>
                  <a:latin typeface="Roboto Light"/>
                  <a:ea typeface="Roboto Light"/>
                  <a:cs typeface="Roboto Light"/>
                  <a:sym typeface="Roboto Light"/>
                </a:rPr>
                <a:t>Built on a flexible architecture featuring 24/7 auto-sync, cloud reliability, and real-time Telegram alerts.</a:t>
              </a:r>
              <a:endParaRPr b="0" sz="1627">
                <a:solidFill>
                  <a:srgbClr val="B0BEC5"/>
                </a:solidFill>
                <a:latin typeface="Roboto Light"/>
                <a:ea typeface="Roboto Light"/>
                <a:cs typeface="Roboto Light"/>
                <a:sym typeface="Roboto Light"/>
              </a:endParaRPr>
            </a:p>
          </p:txBody>
        </p:sp>
      </p:grpSp>
      <p:grpSp>
        <p:nvGrpSpPr>
          <p:cNvPr id="103" name="Google Shape;103;p18"/>
          <p:cNvGrpSpPr/>
          <p:nvPr/>
        </p:nvGrpSpPr>
        <p:grpSpPr>
          <a:xfrm>
            <a:off x="144763" y="3403378"/>
            <a:ext cx="8854478" cy="1655122"/>
            <a:chOff x="0" y="0"/>
            <a:chExt cx="4953000" cy="1238400"/>
          </a:xfrm>
        </p:grpSpPr>
        <p:sp>
          <p:nvSpPr>
            <p:cNvPr id="104" name="Google Shape;104;p18"/>
            <p:cNvSpPr/>
            <p:nvPr/>
          </p:nvSpPr>
          <p:spPr>
            <a:xfrm>
              <a:off x="0" y="0"/>
              <a:ext cx="4953000" cy="1238400"/>
            </a:xfrm>
            <a:prstGeom prst="roundRect">
              <a:avLst>
                <a:gd fmla="val 3076"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138"/>
            </a:p>
          </p:txBody>
        </p:sp>
        <p:sp>
          <p:nvSpPr>
            <p:cNvPr id="105" name="Google Shape;105;p18"/>
            <p:cNvSpPr txBox="1"/>
            <p:nvPr/>
          </p:nvSpPr>
          <p:spPr>
            <a:xfrm>
              <a:off x="190500" y="142875"/>
              <a:ext cx="457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751">
                  <a:solidFill>
                    <a:srgbClr val="00E5FF"/>
                  </a:solidFill>
                  <a:latin typeface="Roboto Mono Medium"/>
                  <a:ea typeface="Roboto Mono Medium"/>
                  <a:cs typeface="Roboto Mono Medium"/>
                  <a:sym typeface="Roboto Mono Medium"/>
                </a:rPr>
                <a:t>ALGORITHMIC CORE &amp; LOGIC</a:t>
              </a:r>
              <a:endParaRPr b="0" sz="1751">
                <a:solidFill>
                  <a:srgbClr val="00E5FF"/>
                </a:solidFill>
                <a:latin typeface="Roboto Mono Medium"/>
                <a:ea typeface="Roboto Mono Medium"/>
                <a:cs typeface="Roboto Mono Medium"/>
                <a:sym typeface="Roboto Mono Medium"/>
              </a:endParaRPr>
            </a:p>
          </p:txBody>
        </p:sp>
        <p:grpSp>
          <p:nvGrpSpPr>
            <p:cNvPr id="106" name="Google Shape;106;p18"/>
            <p:cNvGrpSpPr/>
            <p:nvPr/>
          </p:nvGrpSpPr>
          <p:grpSpPr>
            <a:xfrm>
              <a:off x="190500" y="476250"/>
              <a:ext cx="1381200" cy="571500"/>
              <a:chOff x="0" y="0"/>
              <a:chExt cx="1381200" cy="571500"/>
            </a:xfrm>
          </p:grpSpPr>
          <p:sp>
            <p:nvSpPr>
              <p:cNvPr id="107" name="Google Shape;107;p18"/>
              <p:cNvSpPr/>
              <p:nvPr/>
            </p:nvSpPr>
            <p:spPr>
              <a:xfrm>
                <a:off x="0" y="0"/>
                <a:ext cx="1381200" cy="571500"/>
              </a:xfrm>
              <a:prstGeom prst="roundRect">
                <a:avLst>
                  <a:gd fmla="val 6666" name="adj"/>
                </a:avLst>
              </a:prstGeom>
              <a:solidFill>
                <a:srgbClr val="00E5FF">
                  <a:alpha val="10000"/>
                </a:srgbClr>
              </a:solidFill>
              <a:ln cap="flat" cmpd="sng" w="63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138"/>
              </a:p>
            </p:txBody>
          </p:sp>
          <p:sp>
            <p:nvSpPr>
              <p:cNvPr id="108" name="Google Shape;108;p18"/>
              <p:cNvSpPr txBox="1"/>
              <p:nvPr/>
            </p:nvSpPr>
            <p:spPr>
              <a:xfrm>
                <a:off x="0" y="0"/>
                <a:ext cx="13812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604">
                    <a:solidFill>
                      <a:srgbClr val="FFFFFF"/>
                    </a:solidFill>
                    <a:latin typeface="Roboto Medium"/>
                    <a:ea typeface="Roboto Medium"/>
                    <a:cs typeface="Roboto Medium"/>
                    <a:sym typeface="Roboto Medium"/>
                  </a:rPr>
                  <a:t>EMA 10 / 30</a:t>
                </a:r>
                <a:endParaRPr b="0" sz="1604">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b="0" lang="vi" sz="1470">
                    <a:solidFill>
                      <a:srgbClr val="B0BEC5"/>
                    </a:solidFill>
                    <a:latin typeface="Roboto Light"/>
                    <a:ea typeface="Roboto Light"/>
                    <a:cs typeface="Roboto Light"/>
                    <a:sym typeface="Roboto Light"/>
                  </a:rPr>
                  <a:t>Trend Identification</a:t>
                </a:r>
                <a:endParaRPr b="0" sz="1470">
                  <a:solidFill>
                    <a:srgbClr val="B0BEC5"/>
                  </a:solidFill>
                  <a:latin typeface="Roboto Light"/>
                  <a:ea typeface="Roboto Light"/>
                  <a:cs typeface="Roboto Light"/>
                  <a:sym typeface="Roboto Light"/>
                </a:endParaRPr>
              </a:p>
            </p:txBody>
          </p:sp>
        </p:grpSp>
        <p:grpSp>
          <p:nvGrpSpPr>
            <p:cNvPr id="109" name="Google Shape;109;p18"/>
            <p:cNvGrpSpPr/>
            <p:nvPr/>
          </p:nvGrpSpPr>
          <p:grpSpPr>
            <a:xfrm>
              <a:off x="1781175" y="476250"/>
              <a:ext cx="1381200" cy="571500"/>
              <a:chOff x="0" y="0"/>
              <a:chExt cx="1381200" cy="571500"/>
            </a:xfrm>
          </p:grpSpPr>
          <p:sp>
            <p:nvSpPr>
              <p:cNvPr id="110" name="Google Shape;110;p18"/>
              <p:cNvSpPr/>
              <p:nvPr/>
            </p:nvSpPr>
            <p:spPr>
              <a:xfrm>
                <a:off x="0" y="0"/>
                <a:ext cx="1381200" cy="571500"/>
              </a:xfrm>
              <a:prstGeom prst="roundRect">
                <a:avLst>
                  <a:gd fmla="val 6666" name="adj"/>
                </a:avLst>
              </a:prstGeom>
              <a:solidFill>
                <a:srgbClr val="00E5FF">
                  <a:alpha val="10000"/>
                </a:srgbClr>
              </a:solidFill>
              <a:ln cap="flat" cmpd="sng" w="63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138"/>
              </a:p>
            </p:txBody>
          </p:sp>
          <p:sp>
            <p:nvSpPr>
              <p:cNvPr id="111" name="Google Shape;111;p18"/>
              <p:cNvSpPr txBox="1"/>
              <p:nvPr/>
            </p:nvSpPr>
            <p:spPr>
              <a:xfrm>
                <a:off x="0" y="0"/>
                <a:ext cx="13812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604">
                    <a:solidFill>
                      <a:srgbClr val="FFFFFF"/>
                    </a:solidFill>
                    <a:latin typeface="Roboto Medium"/>
                    <a:ea typeface="Roboto Medium"/>
                    <a:cs typeface="Roboto Medium"/>
                    <a:sym typeface="Roboto Medium"/>
                  </a:rPr>
                  <a:t>RSI</a:t>
                </a:r>
                <a:endParaRPr b="0" sz="1604">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b="0" lang="vi" sz="1470">
                    <a:solidFill>
                      <a:srgbClr val="B0BEC5"/>
                    </a:solidFill>
                    <a:latin typeface="Roboto Light"/>
                    <a:ea typeface="Roboto Light"/>
                    <a:cs typeface="Roboto Light"/>
                    <a:sym typeface="Roboto Light"/>
                  </a:rPr>
                  <a:t>Momentum Filter</a:t>
                </a:r>
                <a:endParaRPr b="0" sz="1470">
                  <a:solidFill>
                    <a:srgbClr val="B0BEC5"/>
                  </a:solidFill>
                  <a:latin typeface="Roboto Light"/>
                  <a:ea typeface="Roboto Light"/>
                  <a:cs typeface="Roboto Light"/>
                  <a:sym typeface="Roboto Light"/>
                </a:endParaRPr>
              </a:p>
            </p:txBody>
          </p:sp>
        </p:grpSp>
        <p:grpSp>
          <p:nvGrpSpPr>
            <p:cNvPr id="112" name="Google Shape;112;p18"/>
            <p:cNvGrpSpPr/>
            <p:nvPr/>
          </p:nvGrpSpPr>
          <p:grpSpPr>
            <a:xfrm>
              <a:off x="3371850" y="476250"/>
              <a:ext cx="1381200" cy="571500"/>
              <a:chOff x="0" y="0"/>
              <a:chExt cx="1381200" cy="571500"/>
            </a:xfrm>
          </p:grpSpPr>
          <p:sp>
            <p:nvSpPr>
              <p:cNvPr id="113" name="Google Shape;113;p18"/>
              <p:cNvSpPr/>
              <p:nvPr/>
            </p:nvSpPr>
            <p:spPr>
              <a:xfrm>
                <a:off x="0" y="0"/>
                <a:ext cx="1381200" cy="571500"/>
              </a:xfrm>
              <a:prstGeom prst="roundRect">
                <a:avLst>
                  <a:gd fmla="val 6666" name="adj"/>
                </a:avLst>
              </a:prstGeom>
              <a:solidFill>
                <a:srgbClr val="00E5FF">
                  <a:alpha val="10000"/>
                </a:srgbClr>
              </a:solidFill>
              <a:ln cap="flat" cmpd="sng" w="63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138"/>
              </a:p>
            </p:txBody>
          </p:sp>
          <p:sp>
            <p:nvSpPr>
              <p:cNvPr id="114" name="Google Shape;114;p18"/>
              <p:cNvSpPr txBox="1"/>
              <p:nvPr/>
            </p:nvSpPr>
            <p:spPr>
              <a:xfrm>
                <a:off x="0" y="0"/>
                <a:ext cx="13812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604">
                    <a:solidFill>
                      <a:srgbClr val="FFFFFF"/>
                    </a:solidFill>
                    <a:latin typeface="Roboto Medium"/>
                    <a:ea typeface="Roboto Medium"/>
                    <a:cs typeface="Roboto Medium"/>
                    <a:sym typeface="Roboto Medium"/>
                  </a:rPr>
                  <a:t>ATR</a:t>
                </a:r>
                <a:endParaRPr b="0" sz="1604">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b="0" lang="vi" sz="1470">
                    <a:solidFill>
                      <a:srgbClr val="B0BEC5"/>
                    </a:solidFill>
                    <a:latin typeface="Roboto Light"/>
                    <a:ea typeface="Roboto Light"/>
                    <a:cs typeface="Roboto Light"/>
                    <a:sym typeface="Roboto Light"/>
                  </a:rPr>
                  <a:t>Volatility Management</a:t>
                </a:r>
                <a:endParaRPr b="0" sz="1470">
                  <a:solidFill>
                    <a:srgbClr val="B0BEC5"/>
                  </a:solidFill>
                  <a:latin typeface="Roboto Light"/>
                  <a:ea typeface="Roboto Light"/>
                  <a:cs typeface="Roboto Light"/>
                  <a:sym typeface="Roboto Light"/>
                </a:endParaRPr>
              </a:p>
            </p:txBody>
          </p:sp>
        </p:grpSp>
      </p:grpSp>
      <p:sp>
        <p:nvSpPr>
          <p:cNvPr id="115" name="Google Shape;115;p18"/>
          <p:cNvSpPr/>
          <p:nvPr/>
        </p:nvSpPr>
        <p:spPr>
          <a:xfrm>
            <a:off x="33550" y="1423300"/>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p:nvPr/>
        </p:nvSpPr>
        <p:spPr>
          <a:xfrm>
            <a:off x="0" y="0"/>
            <a:ext cx="9144000" cy="5143500"/>
          </a:xfrm>
          <a:prstGeom prst="rect">
            <a:avLst/>
          </a:prstGeom>
          <a:solidFill>
            <a:srgbClr val="0D1B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9"/>
          <p:cNvSpPr txBox="1"/>
          <p:nvPr/>
        </p:nvSpPr>
        <p:spPr>
          <a:xfrm>
            <a:off x="78050" y="77900"/>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00">
                <a:solidFill>
                  <a:srgbClr val="00E5FF"/>
                </a:solidFill>
                <a:latin typeface="Montserrat"/>
                <a:ea typeface="Montserrat"/>
                <a:cs typeface="Montserrat"/>
                <a:sym typeface="Montserrat"/>
              </a:rPr>
              <a:t>2.1 Mathematical Foundation</a:t>
            </a:r>
            <a:endParaRPr b="0" sz="1400">
              <a:solidFill>
                <a:srgbClr val="00E5FF"/>
              </a:solidFill>
              <a:latin typeface="Montserrat"/>
              <a:ea typeface="Montserrat"/>
              <a:cs typeface="Montserrat"/>
              <a:sym typeface="Montserrat"/>
            </a:endParaRPr>
          </a:p>
        </p:txBody>
      </p:sp>
      <p:sp>
        <p:nvSpPr>
          <p:cNvPr id="121" name="Google Shape;121;p19"/>
          <p:cNvSpPr txBox="1"/>
          <p:nvPr/>
        </p:nvSpPr>
        <p:spPr>
          <a:xfrm>
            <a:off x="78050" y="458900"/>
            <a:ext cx="5143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400">
                <a:solidFill>
                  <a:srgbClr val="FFFFFF"/>
                </a:solidFill>
                <a:latin typeface="Montserrat ExtraBold"/>
                <a:ea typeface="Montserrat ExtraBold"/>
                <a:cs typeface="Montserrat ExtraBold"/>
                <a:sym typeface="Montserrat ExtraBold"/>
              </a:rPr>
              <a:t>Trend Algorithm: Exponential Moving Average (EMA)</a:t>
            </a:r>
            <a:endParaRPr b="0" sz="2400">
              <a:solidFill>
                <a:srgbClr val="FFFFFF"/>
              </a:solidFill>
              <a:latin typeface="Montserrat ExtraBold"/>
              <a:ea typeface="Montserrat ExtraBold"/>
              <a:cs typeface="Montserrat ExtraBold"/>
              <a:sym typeface="Montserrat ExtraBold"/>
            </a:endParaRPr>
          </a:p>
        </p:txBody>
      </p:sp>
      <p:sp>
        <p:nvSpPr>
          <p:cNvPr id="122" name="Google Shape;122;p19"/>
          <p:cNvSpPr/>
          <p:nvPr/>
        </p:nvSpPr>
        <p:spPr>
          <a:xfrm>
            <a:off x="78050" y="1268525"/>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3" name="Google Shape;123;p19"/>
          <p:cNvGrpSpPr/>
          <p:nvPr/>
        </p:nvGrpSpPr>
        <p:grpSpPr>
          <a:xfrm>
            <a:off x="78004" y="1463144"/>
            <a:ext cx="5585003" cy="1181612"/>
            <a:chOff x="571500" y="1762125"/>
            <a:chExt cx="4953000" cy="1047900"/>
          </a:xfrm>
        </p:grpSpPr>
        <p:sp>
          <p:nvSpPr>
            <p:cNvPr id="124" name="Google Shape;124;p19"/>
            <p:cNvSpPr/>
            <p:nvPr/>
          </p:nvSpPr>
          <p:spPr>
            <a:xfrm>
              <a:off x="571500" y="1762125"/>
              <a:ext cx="4953000" cy="1047900"/>
            </a:xfrm>
            <a:prstGeom prst="roundRect">
              <a:avLst>
                <a:gd fmla="val 3636" name="adj"/>
              </a:avLst>
            </a:prstGeom>
            <a:solidFill>
              <a:srgbClr val="1A237E">
                <a:alpha val="20000"/>
              </a:srgbClr>
            </a:solidFill>
            <a:ln cap="flat" cmpd="sng" w="107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4"/>
            </a:p>
          </p:txBody>
        </p:sp>
        <p:sp>
          <p:nvSpPr>
            <p:cNvPr id="125" name="Google Shape;125;p19"/>
            <p:cNvSpPr txBox="1"/>
            <p:nvPr/>
          </p:nvSpPr>
          <p:spPr>
            <a:xfrm>
              <a:off x="762000" y="1905000"/>
              <a:ext cx="457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53">
                  <a:solidFill>
                    <a:srgbClr val="00E5FF"/>
                  </a:solidFill>
                  <a:latin typeface="Roboto Mono Medium"/>
                  <a:ea typeface="Roboto Mono Medium"/>
                  <a:cs typeface="Roboto Mono Medium"/>
                  <a:sym typeface="Roboto Mono Medium"/>
                </a:rPr>
                <a:t>THE DYNAMIC WEIGHTING FORMULA</a:t>
              </a:r>
              <a:endParaRPr b="0" sz="1253">
                <a:solidFill>
                  <a:srgbClr val="00E5FF"/>
                </a:solidFill>
                <a:latin typeface="Roboto Mono Medium"/>
                <a:ea typeface="Roboto Mono Medium"/>
                <a:cs typeface="Roboto Mono Medium"/>
                <a:sym typeface="Roboto Mono Medium"/>
              </a:endParaRPr>
            </a:p>
          </p:txBody>
        </p:sp>
        <p:sp>
          <p:nvSpPr>
            <p:cNvPr id="126" name="Google Shape;126;p19"/>
            <p:cNvSpPr txBox="1"/>
            <p:nvPr/>
          </p:nvSpPr>
          <p:spPr>
            <a:xfrm>
              <a:off x="762000" y="2143125"/>
              <a:ext cx="457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140">
                  <a:solidFill>
                    <a:srgbClr val="B0BEC5"/>
                  </a:solidFill>
                  <a:latin typeface="Roboto Light"/>
                  <a:ea typeface="Roboto Light"/>
                  <a:cs typeface="Roboto Light"/>
                  <a:sym typeface="Roboto Light"/>
                </a:rPr>
                <a:t>EMA prioritizes recent activity over simple averages, capturing immediate momentum shifts.</a:t>
              </a:r>
              <a:endParaRPr b="0" sz="1140">
                <a:solidFill>
                  <a:srgbClr val="B0BEC5"/>
                </a:solidFill>
                <a:latin typeface="Roboto Light"/>
                <a:ea typeface="Roboto Light"/>
                <a:cs typeface="Roboto Light"/>
                <a:sym typeface="Roboto Light"/>
              </a:endParaRPr>
            </a:p>
            <a:p>
              <a:pPr indent="0" lvl="0" marL="0" rtl="0" algn="l">
                <a:spcBef>
                  <a:spcPts val="677"/>
                </a:spcBef>
                <a:spcAft>
                  <a:spcPts val="0"/>
                </a:spcAft>
                <a:buNone/>
              </a:pPr>
              <a:r>
                <a:rPr b="0" lang="vi" sz="1140">
                  <a:solidFill>
                    <a:srgbClr val="FFFFFF"/>
                  </a:solidFill>
                  <a:latin typeface="Roboto Mono Medium"/>
                  <a:ea typeface="Roboto Mono Medium"/>
                  <a:cs typeface="Roboto Mono Medium"/>
                  <a:sym typeface="Roboto Mono Medium"/>
                </a:rPr>
                <a:t>EMAₜ = (Priceₜ × α) + (EMAₜ₋₁ × (1 - α)) | α = 2 / (N + 1)</a:t>
              </a:r>
              <a:endParaRPr b="0" sz="1140">
                <a:solidFill>
                  <a:srgbClr val="FFFFFF"/>
                </a:solidFill>
                <a:latin typeface="Roboto Mono Medium"/>
                <a:ea typeface="Roboto Mono Medium"/>
                <a:cs typeface="Roboto Mono Medium"/>
                <a:sym typeface="Roboto Mono Medium"/>
              </a:endParaRPr>
            </a:p>
          </p:txBody>
        </p:sp>
      </p:grpSp>
      <p:grpSp>
        <p:nvGrpSpPr>
          <p:cNvPr id="127" name="Google Shape;127;p19"/>
          <p:cNvGrpSpPr/>
          <p:nvPr/>
        </p:nvGrpSpPr>
        <p:grpSpPr>
          <a:xfrm>
            <a:off x="78004" y="2805692"/>
            <a:ext cx="2685267" cy="2040505"/>
            <a:chOff x="571500" y="2952750"/>
            <a:chExt cx="2381400" cy="1809600"/>
          </a:xfrm>
        </p:grpSpPr>
        <p:sp>
          <p:nvSpPr>
            <p:cNvPr id="128" name="Google Shape;128;p19"/>
            <p:cNvSpPr/>
            <p:nvPr/>
          </p:nvSpPr>
          <p:spPr>
            <a:xfrm>
              <a:off x="571500" y="2952750"/>
              <a:ext cx="2381400" cy="1809600"/>
            </a:xfrm>
            <a:prstGeom prst="roundRect">
              <a:avLst>
                <a:gd fmla="val 2105" name="adj"/>
              </a:avLst>
            </a:prstGeom>
            <a:solidFill>
              <a:srgbClr val="1A237E">
                <a:alpha val="20000"/>
              </a:srgbClr>
            </a:solidFill>
            <a:ln cap="flat" cmpd="sng" w="107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4"/>
            </a:p>
          </p:txBody>
        </p:sp>
        <p:sp>
          <p:nvSpPr>
            <p:cNvPr id="129" name="Google Shape;129;p19"/>
            <p:cNvSpPr txBox="1"/>
            <p:nvPr/>
          </p:nvSpPr>
          <p:spPr>
            <a:xfrm>
              <a:off x="714375" y="3095625"/>
              <a:ext cx="2095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53">
                  <a:solidFill>
                    <a:srgbClr val="00E5FF"/>
                  </a:solidFill>
                  <a:latin typeface="Roboto Mono Medium"/>
                  <a:ea typeface="Roboto Mono Medium"/>
                  <a:cs typeface="Roboto Mono Medium"/>
                  <a:sym typeface="Roboto Mono Medium"/>
                </a:rPr>
                <a:t>LONG SIGNAL (BUY)</a:t>
              </a:r>
              <a:endParaRPr b="0" sz="1253">
                <a:solidFill>
                  <a:srgbClr val="00E5FF"/>
                </a:solidFill>
                <a:latin typeface="Roboto Mono Medium"/>
                <a:ea typeface="Roboto Mono Medium"/>
                <a:cs typeface="Roboto Mono Medium"/>
                <a:sym typeface="Roboto Mono Medium"/>
              </a:endParaRPr>
            </a:p>
          </p:txBody>
        </p:sp>
        <p:sp>
          <p:nvSpPr>
            <p:cNvPr id="130" name="Google Shape;130;p19"/>
            <p:cNvSpPr txBox="1"/>
            <p:nvPr/>
          </p:nvSpPr>
          <p:spPr>
            <a:xfrm>
              <a:off x="714375" y="3381375"/>
              <a:ext cx="2095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140">
                  <a:solidFill>
                    <a:srgbClr val="B0BEC5"/>
                  </a:solidFill>
                  <a:latin typeface="Roboto Light"/>
                  <a:ea typeface="Roboto Light"/>
                  <a:cs typeface="Roboto Light"/>
                  <a:sym typeface="Roboto Light"/>
                </a:rPr>
                <a:t>Trigger: </a:t>
              </a:r>
              <a:r>
                <a:rPr b="0" lang="vi" sz="1140">
                  <a:solidFill>
                    <a:srgbClr val="FFFFFF"/>
                  </a:solidFill>
                  <a:latin typeface="Roboto Medium"/>
                  <a:ea typeface="Roboto Medium"/>
                  <a:cs typeface="Roboto Medium"/>
                  <a:sym typeface="Roboto Medium"/>
                </a:rPr>
                <a:t>EMA 10 crosses ABOVE EMA 30</a:t>
              </a:r>
              <a:endParaRPr b="0" sz="1140">
                <a:solidFill>
                  <a:srgbClr val="B0BEC5"/>
                </a:solidFill>
                <a:latin typeface="Roboto Light"/>
                <a:ea typeface="Roboto Light"/>
                <a:cs typeface="Roboto Light"/>
                <a:sym typeface="Roboto Light"/>
              </a:endParaRPr>
            </a:p>
            <a:p>
              <a:pPr indent="0" lvl="0" marL="0" rtl="0" algn="l">
                <a:spcBef>
                  <a:spcPts val="677"/>
                </a:spcBef>
                <a:spcAft>
                  <a:spcPts val="0"/>
                </a:spcAft>
                <a:buNone/>
              </a:pPr>
              <a:r>
                <a:rPr b="0" lang="vi" sz="1140">
                  <a:solidFill>
                    <a:srgbClr val="B0BEC5"/>
                  </a:solidFill>
                  <a:latin typeface="Roboto Light"/>
                  <a:ea typeface="Roboto Light"/>
                  <a:cs typeface="Roboto Light"/>
                  <a:sym typeface="Roboto Light"/>
                </a:rPr>
                <a:t>Indicates a short-term momentum breakout from the long-term baseline.</a:t>
              </a:r>
              <a:endParaRPr b="0" sz="1140">
                <a:solidFill>
                  <a:srgbClr val="B0BEC5"/>
                </a:solidFill>
                <a:latin typeface="Roboto Light"/>
                <a:ea typeface="Roboto Light"/>
                <a:cs typeface="Roboto Light"/>
                <a:sym typeface="Roboto Light"/>
              </a:endParaRPr>
            </a:p>
            <a:p>
              <a:pPr indent="0" lvl="0" marL="0" rtl="0" algn="l">
                <a:spcBef>
                  <a:spcPts val="677"/>
                </a:spcBef>
                <a:spcAft>
                  <a:spcPts val="0"/>
                </a:spcAft>
                <a:buNone/>
              </a:pPr>
              <a:r>
                <a:rPr b="0" lang="vi" sz="1140">
                  <a:solidFill>
                    <a:srgbClr val="FFFFFF"/>
                  </a:solidFill>
                  <a:latin typeface="Roboto Mono Medium"/>
                  <a:ea typeface="Roboto Mono Medium"/>
                  <a:cs typeface="Roboto Mono Medium"/>
                  <a:sym typeface="Roboto Mono Medium"/>
                </a:rPr>
                <a:t>α₁₀ ≈ 18.18% (Sensitivity)</a:t>
              </a:r>
              <a:endParaRPr b="0" sz="1140">
                <a:solidFill>
                  <a:srgbClr val="FFFFFF"/>
                </a:solidFill>
                <a:latin typeface="Roboto Mono Medium"/>
                <a:ea typeface="Roboto Mono Medium"/>
                <a:cs typeface="Roboto Mono Medium"/>
                <a:sym typeface="Roboto Mono Medium"/>
              </a:endParaRPr>
            </a:p>
          </p:txBody>
        </p:sp>
      </p:grpSp>
      <p:grpSp>
        <p:nvGrpSpPr>
          <p:cNvPr id="131" name="Google Shape;131;p19"/>
          <p:cNvGrpSpPr/>
          <p:nvPr/>
        </p:nvGrpSpPr>
        <p:grpSpPr>
          <a:xfrm>
            <a:off x="2977909" y="2805692"/>
            <a:ext cx="2685267" cy="2040505"/>
            <a:chOff x="3143250" y="2952750"/>
            <a:chExt cx="2381400" cy="1809600"/>
          </a:xfrm>
        </p:grpSpPr>
        <p:sp>
          <p:nvSpPr>
            <p:cNvPr id="132" name="Google Shape;132;p19"/>
            <p:cNvSpPr/>
            <p:nvPr/>
          </p:nvSpPr>
          <p:spPr>
            <a:xfrm>
              <a:off x="3143250" y="2952750"/>
              <a:ext cx="2381400" cy="1809600"/>
            </a:xfrm>
            <a:prstGeom prst="roundRect">
              <a:avLst>
                <a:gd fmla="val 2105" name="adj"/>
              </a:avLst>
            </a:prstGeom>
            <a:solidFill>
              <a:srgbClr val="1A237E">
                <a:alpha val="20000"/>
              </a:srgbClr>
            </a:solidFill>
            <a:ln cap="flat" cmpd="sng" w="107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4"/>
            </a:p>
          </p:txBody>
        </p:sp>
        <p:sp>
          <p:nvSpPr>
            <p:cNvPr id="133" name="Google Shape;133;p19"/>
            <p:cNvSpPr txBox="1"/>
            <p:nvPr/>
          </p:nvSpPr>
          <p:spPr>
            <a:xfrm>
              <a:off x="3286125" y="3095625"/>
              <a:ext cx="2095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53">
                  <a:solidFill>
                    <a:srgbClr val="00E5FF"/>
                  </a:solidFill>
                  <a:latin typeface="Roboto Mono Medium"/>
                  <a:ea typeface="Roboto Mono Medium"/>
                  <a:cs typeface="Roboto Mono Medium"/>
                  <a:sym typeface="Roboto Mono Medium"/>
                </a:rPr>
                <a:t>SHORT SIGNAL (SELL)</a:t>
              </a:r>
              <a:endParaRPr b="0" sz="1253">
                <a:solidFill>
                  <a:srgbClr val="00E5FF"/>
                </a:solidFill>
                <a:latin typeface="Roboto Mono Medium"/>
                <a:ea typeface="Roboto Mono Medium"/>
                <a:cs typeface="Roboto Mono Medium"/>
                <a:sym typeface="Roboto Mono Medium"/>
              </a:endParaRPr>
            </a:p>
          </p:txBody>
        </p:sp>
        <p:sp>
          <p:nvSpPr>
            <p:cNvPr id="134" name="Google Shape;134;p19"/>
            <p:cNvSpPr txBox="1"/>
            <p:nvPr/>
          </p:nvSpPr>
          <p:spPr>
            <a:xfrm>
              <a:off x="3286125" y="3381375"/>
              <a:ext cx="2095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140">
                  <a:solidFill>
                    <a:srgbClr val="B0BEC5"/>
                  </a:solidFill>
                  <a:latin typeface="Roboto Light"/>
                  <a:ea typeface="Roboto Light"/>
                  <a:cs typeface="Roboto Light"/>
                  <a:sym typeface="Roboto Light"/>
                </a:rPr>
                <a:t>Trigger: </a:t>
              </a:r>
              <a:r>
                <a:rPr b="0" lang="vi" sz="1140">
                  <a:solidFill>
                    <a:srgbClr val="FFFFFF"/>
                  </a:solidFill>
                  <a:latin typeface="Roboto Medium"/>
                  <a:ea typeface="Roboto Medium"/>
                  <a:cs typeface="Roboto Medium"/>
                  <a:sym typeface="Roboto Medium"/>
                </a:rPr>
                <a:t>EMA 10 crosses BELOW EMA 30</a:t>
              </a:r>
              <a:endParaRPr b="0" sz="1140">
                <a:solidFill>
                  <a:srgbClr val="B0BEC5"/>
                </a:solidFill>
                <a:latin typeface="Roboto Light"/>
                <a:ea typeface="Roboto Light"/>
                <a:cs typeface="Roboto Light"/>
                <a:sym typeface="Roboto Light"/>
              </a:endParaRPr>
            </a:p>
            <a:p>
              <a:pPr indent="0" lvl="0" marL="0" rtl="0" algn="l">
                <a:spcBef>
                  <a:spcPts val="677"/>
                </a:spcBef>
                <a:spcAft>
                  <a:spcPts val="0"/>
                </a:spcAft>
                <a:buNone/>
              </a:pPr>
              <a:r>
                <a:rPr b="0" lang="vi" sz="1140">
                  <a:solidFill>
                    <a:srgbClr val="B0BEC5"/>
                  </a:solidFill>
                  <a:latin typeface="Roboto Light"/>
                  <a:ea typeface="Roboto Light"/>
                  <a:cs typeface="Roboto Light"/>
                  <a:sym typeface="Roboto Light"/>
                </a:rPr>
                <a:t>Signals dominant bearish momentum breaking support foundations.</a:t>
              </a:r>
              <a:endParaRPr b="0" sz="1140">
                <a:solidFill>
                  <a:srgbClr val="B0BEC5"/>
                </a:solidFill>
                <a:latin typeface="Roboto Light"/>
                <a:ea typeface="Roboto Light"/>
                <a:cs typeface="Roboto Light"/>
                <a:sym typeface="Roboto Light"/>
              </a:endParaRPr>
            </a:p>
            <a:p>
              <a:pPr indent="0" lvl="0" marL="0" rtl="0" algn="l">
                <a:spcBef>
                  <a:spcPts val="677"/>
                </a:spcBef>
                <a:spcAft>
                  <a:spcPts val="0"/>
                </a:spcAft>
                <a:buNone/>
              </a:pPr>
              <a:r>
                <a:rPr b="0" lang="vi" sz="1140">
                  <a:solidFill>
                    <a:srgbClr val="FFFFFF"/>
                  </a:solidFill>
                  <a:latin typeface="Roboto Mono Medium"/>
                  <a:ea typeface="Roboto Mono Medium"/>
                  <a:cs typeface="Roboto Mono Medium"/>
                  <a:sym typeface="Roboto Mono Medium"/>
                </a:rPr>
                <a:t>α₃₀ ≈ 6.45% (Foundation)</a:t>
              </a:r>
              <a:endParaRPr b="0" sz="1140">
                <a:solidFill>
                  <a:srgbClr val="FFFFFF"/>
                </a:solidFill>
                <a:latin typeface="Roboto Mono Medium"/>
                <a:ea typeface="Roboto Mono Medium"/>
                <a:cs typeface="Roboto Mono Medium"/>
                <a:sym typeface="Roboto Mono Medium"/>
              </a:endParaRPr>
            </a:p>
          </p:txBody>
        </p:sp>
      </p:grpSp>
      <p:pic>
        <p:nvPicPr>
          <p:cNvPr id="135" name="Google Shape;135;p19"/>
          <p:cNvPicPr preferRelativeResize="0"/>
          <p:nvPr/>
        </p:nvPicPr>
        <p:blipFill>
          <a:blip r:embed="rId3">
            <a:alphaModFix/>
          </a:blip>
          <a:stretch>
            <a:fillRect/>
          </a:stretch>
        </p:blipFill>
        <p:spPr>
          <a:xfrm>
            <a:off x="5715004" y="1762125"/>
            <a:ext cx="3387146" cy="1142850"/>
          </a:xfrm>
          <a:prstGeom prst="rect">
            <a:avLst/>
          </a:prstGeom>
          <a:noFill/>
          <a:ln>
            <a:noFill/>
          </a:ln>
        </p:spPr>
      </p:pic>
      <p:pic>
        <p:nvPicPr>
          <p:cNvPr id="136" name="Google Shape;136;p19"/>
          <p:cNvPicPr preferRelativeResize="0"/>
          <p:nvPr/>
        </p:nvPicPr>
        <p:blipFill>
          <a:blip r:embed="rId4">
            <a:alphaModFix/>
          </a:blip>
          <a:stretch>
            <a:fillRect/>
          </a:stretch>
        </p:blipFill>
        <p:spPr>
          <a:xfrm>
            <a:off x="5715000" y="3111874"/>
            <a:ext cx="3387149" cy="950051"/>
          </a:xfrm>
          <a:prstGeom prst="rect">
            <a:avLst/>
          </a:prstGeom>
          <a:solidFill>
            <a:srgbClr val="0D1B1E"/>
          </a:solid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139" name="Shape 139"/>
        <p:cNvGrpSpPr/>
        <p:nvPr/>
      </p:nvGrpSpPr>
      <p:grpSpPr>
        <a:xfrm>
          <a:off x="0" y="0"/>
          <a:ext cx="0" cy="0"/>
          <a:chOff x="0" y="0"/>
          <a:chExt cx="0" cy="0"/>
        </a:xfrm>
      </p:grpSpPr>
      <p:sp>
        <p:nvSpPr>
          <p:cNvPr id="140" name="Google Shape;140;p20"/>
          <p:cNvSpPr txBox="1"/>
          <p:nvPr/>
        </p:nvSpPr>
        <p:spPr>
          <a:xfrm>
            <a:off x="81225" y="0"/>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00">
                <a:solidFill>
                  <a:srgbClr val="00E5FF"/>
                </a:solidFill>
                <a:latin typeface="Montserrat"/>
                <a:ea typeface="Montserrat"/>
                <a:cs typeface="Montserrat"/>
                <a:sym typeface="Montserrat"/>
              </a:rPr>
              <a:t>2.1 Mathematical Foundation</a:t>
            </a:r>
            <a:endParaRPr b="0" sz="1400">
              <a:solidFill>
                <a:srgbClr val="00E5FF"/>
              </a:solidFill>
              <a:latin typeface="Montserrat"/>
              <a:ea typeface="Montserrat"/>
              <a:cs typeface="Montserrat"/>
              <a:sym typeface="Montserrat"/>
            </a:endParaRPr>
          </a:p>
        </p:txBody>
      </p:sp>
      <p:sp>
        <p:nvSpPr>
          <p:cNvPr id="141" name="Google Shape;141;p20"/>
          <p:cNvSpPr txBox="1"/>
          <p:nvPr/>
        </p:nvSpPr>
        <p:spPr>
          <a:xfrm>
            <a:off x="81225" y="381000"/>
            <a:ext cx="5143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400">
                <a:solidFill>
                  <a:srgbClr val="FFFFFF"/>
                </a:solidFill>
                <a:latin typeface="Montserrat ExtraBold"/>
                <a:ea typeface="Montserrat ExtraBold"/>
                <a:cs typeface="Montserrat ExtraBold"/>
                <a:sym typeface="Montserrat ExtraBold"/>
              </a:rPr>
              <a:t>Momentum Filter: Relative Strength Index (RSI)</a:t>
            </a:r>
            <a:endParaRPr b="0" sz="2400">
              <a:solidFill>
                <a:srgbClr val="FFFFFF"/>
              </a:solidFill>
              <a:latin typeface="Montserrat ExtraBold"/>
              <a:ea typeface="Montserrat ExtraBold"/>
              <a:cs typeface="Montserrat ExtraBold"/>
              <a:sym typeface="Montserrat ExtraBold"/>
            </a:endParaRPr>
          </a:p>
        </p:txBody>
      </p:sp>
      <p:sp>
        <p:nvSpPr>
          <p:cNvPr id="142" name="Google Shape;142;p20"/>
          <p:cNvSpPr/>
          <p:nvPr/>
        </p:nvSpPr>
        <p:spPr>
          <a:xfrm>
            <a:off x="81225" y="1190625"/>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3" name="Google Shape;143;p20"/>
          <p:cNvGrpSpPr/>
          <p:nvPr/>
        </p:nvGrpSpPr>
        <p:grpSpPr>
          <a:xfrm>
            <a:off x="81227" y="1465027"/>
            <a:ext cx="5596890" cy="1184127"/>
            <a:chOff x="571500" y="1762125"/>
            <a:chExt cx="4953000" cy="1047900"/>
          </a:xfrm>
        </p:grpSpPr>
        <p:sp>
          <p:nvSpPr>
            <p:cNvPr id="144" name="Google Shape;144;p20"/>
            <p:cNvSpPr/>
            <p:nvPr/>
          </p:nvSpPr>
          <p:spPr>
            <a:xfrm>
              <a:off x="571500" y="1762125"/>
              <a:ext cx="4953000" cy="1047900"/>
            </a:xfrm>
            <a:prstGeom prst="roundRect">
              <a:avLst>
                <a:gd fmla="val 3636" name="adj"/>
              </a:avLst>
            </a:prstGeom>
            <a:solidFill>
              <a:srgbClr val="1A237E">
                <a:alpha val="20000"/>
              </a:srgbClr>
            </a:solidFill>
            <a:ln cap="flat" cmpd="sng" w="1077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8"/>
            </a:p>
          </p:txBody>
        </p:sp>
        <p:sp>
          <p:nvSpPr>
            <p:cNvPr id="145" name="Google Shape;145;p20"/>
            <p:cNvSpPr txBox="1"/>
            <p:nvPr/>
          </p:nvSpPr>
          <p:spPr>
            <a:xfrm>
              <a:off x="762000" y="1905000"/>
              <a:ext cx="457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56">
                  <a:solidFill>
                    <a:srgbClr val="00E5FF"/>
                  </a:solidFill>
                  <a:latin typeface="Roboto Mono Medium"/>
                  <a:ea typeface="Roboto Mono Medium"/>
                  <a:cs typeface="Roboto Mono Medium"/>
                  <a:sym typeface="Roboto Mono Medium"/>
                </a:rPr>
                <a:t>THE MOMENTUM EQUATION</a:t>
              </a:r>
              <a:endParaRPr b="0" sz="1256">
                <a:solidFill>
                  <a:srgbClr val="00E5FF"/>
                </a:solidFill>
                <a:latin typeface="Roboto Mono Medium"/>
                <a:ea typeface="Roboto Mono Medium"/>
                <a:cs typeface="Roboto Mono Medium"/>
                <a:sym typeface="Roboto Mono Medium"/>
              </a:endParaRPr>
            </a:p>
          </p:txBody>
        </p:sp>
        <p:sp>
          <p:nvSpPr>
            <p:cNvPr id="146" name="Google Shape;146;p20"/>
            <p:cNvSpPr txBox="1"/>
            <p:nvPr/>
          </p:nvSpPr>
          <p:spPr>
            <a:xfrm>
              <a:off x="762000" y="2143125"/>
              <a:ext cx="457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00">
                  <a:solidFill>
                    <a:srgbClr val="B0BEC5"/>
                  </a:solidFill>
                  <a:latin typeface="Roboto Light"/>
                  <a:ea typeface="Roboto Light"/>
                  <a:cs typeface="Roboto Light"/>
                  <a:sym typeface="Roboto Light"/>
                </a:rPr>
                <a:t>Eliminates noise and traps by analyzing the ratio of average gains to average losses. Ensures market entry only occurs during definitive trend dominance.</a:t>
              </a:r>
              <a:endParaRPr b="0" sz="1200">
                <a:solidFill>
                  <a:srgbClr val="B0BEC5"/>
                </a:solidFill>
                <a:latin typeface="Roboto Light"/>
                <a:ea typeface="Roboto Light"/>
                <a:cs typeface="Roboto Light"/>
                <a:sym typeface="Roboto Light"/>
              </a:endParaRPr>
            </a:p>
            <a:p>
              <a:pPr indent="0" lvl="0" marL="0" rtl="0" algn="l">
                <a:spcBef>
                  <a:spcPts val="509"/>
                </a:spcBef>
                <a:spcAft>
                  <a:spcPts val="0"/>
                </a:spcAft>
                <a:buNone/>
              </a:pPr>
              <a:r>
                <a:rPr b="0" lang="vi" sz="1256">
                  <a:solidFill>
                    <a:srgbClr val="00E5FF"/>
                  </a:solidFill>
                  <a:latin typeface="Roboto Mono Medium"/>
                  <a:ea typeface="Roboto Mono Medium"/>
                  <a:cs typeface="Roboto Mono Medium"/>
                  <a:sym typeface="Roboto Mono Medium"/>
                </a:rPr>
                <a:t>RSI = 100 - [ 100 / ( 1 + (Avg Gain / Avg Loss) ) ]</a:t>
              </a:r>
              <a:endParaRPr b="0" sz="1256">
                <a:solidFill>
                  <a:srgbClr val="00E5FF"/>
                </a:solidFill>
                <a:latin typeface="Roboto Mono Medium"/>
                <a:ea typeface="Roboto Mono Medium"/>
                <a:cs typeface="Roboto Mono Medium"/>
                <a:sym typeface="Roboto Mono Medium"/>
              </a:endParaRPr>
            </a:p>
          </p:txBody>
        </p:sp>
      </p:grpSp>
      <p:grpSp>
        <p:nvGrpSpPr>
          <p:cNvPr id="147" name="Google Shape;147;p20"/>
          <p:cNvGrpSpPr/>
          <p:nvPr/>
        </p:nvGrpSpPr>
        <p:grpSpPr>
          <a:xfrm>
            <a:off x="81227" y="2810434"/>
            <a:ext cx="2690982" cy="2044848"/>
            <a:chOff x="571500" y="2952750"/>
            <a:chExt cx="2381400" cy="1809600"/>
          </a:xfrm>
        </p:grpSpPr>
        <p:sp>
          <p:nvSpPr>
            <p:cNvPr id="148" name="Google Shape;148;p20"/>
            <p:cNvSpPr/>
            <p:nvPr/>
          </p:nvSpPr>
          <p:spPr>
            <a:xfrm>
              <a:off x="571500" y="2952750"/>
              <a:ext cx="2381400" cy="1809600"/>
            </a:xfrm>
            <a:prstGeom prst="roundRect">
              <a:avLst>
                <a:gd fmla="val 2105" name="adj"/>
              </a:avLst>
            </a:prstGeom>
            <a:solidFill>
              <a:srgbClr val="1A237E">
                <a:alpha val="20000"/>
              </a:srgbClr>
            </a:solidFill>
            <a:ln cap="flat" cmpd="sng" w="1077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8"/>
            </a:p>
          </p:txBody>
        </p:sp>
        <p:sp>
          <p:nvSpPr>
            <p:cNvPr id="149" name="Google Shape;149;p20"/>
            <p:cNvSpPr txBox="1"/>
            <p:nvPr/>
          </p:nvSpPr>
          <p:spPr>
            <a:xfrm>
              <a:off x="714375" y="3095625"/>
              <a:ext cx="2095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56">
                  <a:solidFill>
                    <a:srgbClr val="00E5FF"/>
                  </a:solidFill>
                  <a:latin typeface="Roboto Mono Medium"/>
                  <a:ea typeface="Roboto Mono Medium"/>
                  <a:cs typeface="Roboto Mono Medium"/>
                  <a:sym typeface="Roboto Mono Medium"/>
                </a:rPr>
                <a:t>LONG SIGNAL (BUY)</a:t>
              </a:r>
              <a:endParaRPr b="0" sz="1256">
                <a:solidFill>
                  <a:srgbClr val="00E5FF"/>
                </a:solidFill>
                <a:latin typeface="Roboto Mono Medium"/>
                <a:ea typeface="Roboto Mono Medium"/>
                <a:cs typeface="Roboto Mono Medium"/>
                <a:sym typeface="Roboto Mono Medium"/>
              </a:endParaRPr>
            </a:p>
          </p:txBody>
        </p:sp>
        <p:sp>
          <p:nvSpPr>
            <p:cNvPr id="150" name="Google Shape;150;p20"/>
            <p:cNvSpPr txBox="1"/>
            <p:nvPr/>
          </p:nvSpPr>
          <p:spPr>
            <a:xfrm>
              <a:off x="714375" y="3381375"/>
              <a:ext cx="2095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00">
                  <a:solidFill>
                    <a:srgbClr val="B0BEC5"/>
                  </a:solidFill>
                  <a:latin typeface="Roboto Light"/>
                  <a:ea typeface="Roboto Light"/>
                  <a:cs typeface="Roboto Light"/>
                  <a:sym typeface="Roboto Light"/>
                </a:rPr>
                <a:t>Trigger Zone: </a:t>
              </a:r>
              <a:r>
                <a:rPr b="0" lang="vi" sz="1200">
                  <a:solidFill>
                    <a:srgbClr val="FFFFFF"/>
                  </a:solidFill>
                  <a:latin typeface="Roboto Medium"/>
                  <a:ea typeface="Roboto Medium"/>
                  <a:cs typeface="Roboto Medium"/>
                  <a:sym typeface="Roboto Medium"/>
                </a:rPr>
                <a:t>RSI ∈ [45, 75]</a:t>
              </a:r>
              <a:endParaRPr b="0" sz="1200">
                <a:solidFill>
                  <a:srgbClr val="B0BEC5"/>
                </a:solidFill>
                <a:latin typeface="Roboto Light"/>
                <a:ea typeface="Roboto Light"/>
                <a:cs typeface="Roboto Light"/>
                <a:sym typeface="Roboto Light"/>
              </a:endParaRPr>
            </a:p>
            <a:p>
              <a:pPr indent="0" lvl="0" marL="0" rtl="0" algn="l">
                <a:spcBef>
                  <a:spcPts val="509"/>
                </a:spcBef>
                <a:spcAft>
                  <a:spcPts val="0"/>
                </a:spcAft>
                <a:buNone/>
              </a:pPr>
              <a:r>
                <a:rPr b="0" lang="vi" sz="1200">
                  <a:solidFill>
                    <a:srgbClr val="B0BEC5"/>
                  </a:solidFill>
                  <a:latin typeface="Roboto Light"/>
                  <a:ea typeface="Roboto Light"/>
                  <a:cs typeface="Roboto Light"/>
                  <a:sym typeface="Roboto Light"/>
                </a:rPr>
                <a:t>Ensures </a:t>
              </a:r>
              <a:r>
                <a:rPr b="0" lang="vi" sz="1200">
                  <a:solidFill>
                    <a:srgbClr val="FFFFFF"/>
                  </a:solidFill>
                  <a:latin typeface="Roboto Medium"/>
                  <a:ea typeface="Roboto Medium"/>
                  <a:cs typeface="Roboto Medium"/>
                  <a:sym typeface="Roboto Medium"/>
                </a:rPr>
                <a:t>Avg Gain &gt; Avg Loss</a:t>
              </a:r>
              <a:r>
                <a:rPr b="0" lang="vi" sz="1200">
                  <a:solidFill>
                    <a:srgbClr val="B0BEC5"/>
                  </a:solidFill>
                  <a:latin typeface="Roboto Light"/>
                  <a:ea typeface="Roboto Light"/>
                  <a:cs typeface="Roboto Light"/>
                  <a:sym typeface="Roboto Light"/>
                </a:rPr>
                <a:t>. Confirms buyer dominance and positive momentum.</a:t>
              </a:r>
              <a:endParaRPr b="0" sz="1200">
                <a:solidFill>
                  <a:srgbClr val="B0BEC5"/>
                </a:solidFill>
                <a:latin typeface="Roboto Light"/>
                <a:ea typeface="Roboto Light"/>
                <a:cs typeface="Roboto Light"/>
                <a:sym typeface="Roboto Light"/>
              </a:endParaRPr>
            </a:p>
            <a:p>
              <a:pPr indent="0" lvl="0" marL="0" rtl="0" algn="l">
                <a:spcBef>
                  <a:spcPts val="509"/>
                </a:spcBef>
                <a:spcAft>
                  <a:spcPts val="0"/>
                </a:spcAft>
                <a:buNone/>
              </a:pPr>
              <a:r>
                <a:rPr b="0" lang="vi" sz="1200">
                  <a:solidFill>
                    <a:srgbClr val="FFFFFF"/>
                  </a:solidFill>
                  <a:latin typeface="Roboto Medium"/>
                  <a:ea typeface="Roboto Medium"/>
                  <a:cs typeface="Roboto Medium"/>
                  <a:sym typeface="Roboto Medium"/>
                </a:rPr>
                <a:t>Risk Block:</a:t>
              </a:r>
              <a:r>
                <a:rPr b="0" lang="vi" sz="1200">
                  <a:solidFill>
                    <a:srgbClr val="B0BEC5"/>
                  </a:solidFill>
                  <a:latin typeface="Roboto Light"/>
                  <a:ea typeface="Roboto Light"/>
                  <a:cs typeface="Roboto Light"/>
                  <a:sym typeface="Roboto Light"/>
                </a:rPr>
                <a:t> Rejects entry if </a:t>
              </a:r>
              <a:r>
                <a:rPr b="0" lang="vi" sz="1200">
                  <a:solidFill>
                    <a:srgbClr val="FFFFFF"/>
                  </a:solidFill>
                  <a:latin typeface="Roboto Medium"/>
                  <a:ea typeface="Roboto Medium"/>
                  <a:cs typeface="Roboto Medium"/>
                  <a:sym typeface="Roboto Medium"/>
                </a:rPr>
                <a:t>RSI &gt; 75</a:t>
              </a:r>
              <a:r>
                <a:rPr b="0" lang="vi" sz="1200">
                  <a:solidFill>
                    <a:srgbClr val="B0BEC5"/>
                  </a:solidFill>
                  <a:latin typeface="Roboto Light"/>
                  <a:ea typeface="Roboto Light"/>
                  <a:cs typeface="Roboto Light"/>
                  <a:sym typeface="Roboto Light"/>
                </a:rPr>
                <a:t> (Overbought) to avoid "chasing the peak" risks.</a:t>
              </a:r>
              <a:endParaRPr b="0" sz="1200">
                <a:solidFill>
                  <a:srgbClr val="B0BEC5"/>
                </a:solidFill>
                <a:latin typeface="Roboto Light"/>
                <a:ea typeface="Roboto Light"/>
                <a:cs typeface="Roboto Light"/>
                <a:sym typeface="Roboto Light"/>
              </a:endParaRPr>
            </a:p>
          </p:txBody>
        </p:sp>
      </p:grpSp>
      <p:grpSp>
        <p:nvGrpSpPr>
          <p:cNvPr id="151" name="Google Shape;151;p20"/>
          <p:cNvGrpSpPr/>
          <p:nvPr/>
        </p:nvGrpSpPr>
        <p:grpSpPr>
          <a:xfrm>
            <a:off x="2987135" y="2810434"/>
            <a:ext cx="2690982" cy="2044848"/>
            <a:chOff x="3143250" y="2952750"/>
            <a:chExt cx="2381400" cy="1809600"/>
          </a:xfrm>
        </p:grpSpPr>
        <p:sp>
          <p:nvSpPr>
            <p:cNvPr id="152" name="Google Shape;152;p20"/>
            <p:cNvSpPr/>
            <p:nvPr/>
          </p:nvSpPr>
          <p:spPr>
            <a:xfrm>
              <a:off x="3143250" y="2952750"/>
              <a:ext cx="2381400" cy="1809600"/>
            </a:xfrm>
            <a:prstGeom prst="roundRect">
              <a:avLst>
                <a:gd fmla="val 2105" name="adj"/>
              </a:avLst>
            </a:prstGeom>
            <a:solidFill>
              <a:srgbClr val="1A237E">
                <a:alpha val="20000"/>
              </a:srgbClr>
            </a:solidFill>
            <a:ln cap="flat" cmpd="sng" w="1077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8"/>
            </a:p>
          </p:txBody>
        </p:sp>
        <p:sp>
          <p:nvSpPr>
            <p:cNvPr id="153" name="Google Shape;153;p20"/>
            <p:cNvSpPr txBox="1"/>
            <p:nvPr/>
          </p:nvSpPr>
          <p:spPr>
            <a:xfrm>
              <a:off x="3286125" y="3095625"/>
              <a:ext cx="2095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56">
                  <a:solidFill>
                    <a:srgbClr val="00E5FF"/>
                  </a:solidFill>
                  <a:latin typeface="Roboto Mono Medium"/>
                  <a:ea typeface="Roboto Mono Medium"/>
                  <a:cs typeface="Roboto Mono Medium"/>
                  <a:sym typeface="Roboto Mono Medium"/>
                </a:rPr>
                <a:t>SHORT SIGNAL (SELL)</a:t>
              </a:r>
              <a:endParaRPr b="0" sz="1256">
                <a:solidFill>
                  <a:srgbClr val="00E5FF"/>
                </a:solidFill>
                <a:latin typeface="Roboto Mono Medium"/>
                <a:ea typeface="Roboto Mono Medium"/>
                <a:cs typeface="Roboto Mono Medium"/>
                <a:sym typeface="Roboto Mono Medium"/>
              </a:endParaRPr>
            </a:p>
          </p:txBody>
        </p:sp>
        <p:sp>
          <p:nvSpPr>
            <p:cNvPr id="154" name="Google Shape;154;p20"/>
            <p:cNvSpPr txBox="1"/>
            <p:nvPr/>
          </p:nvSpPr>
          <p:spPr>
            <a:xfrm>
              <a:off x="3286125" y="3381375"/>
              <a:ext cx="2095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00">
                  <a:solidFill>
                    <a:srgbClr val="B0BEC5"/>
                  </a:solidFill>
                  <a:latin typeface="Roboto Light"/>
                  <a:ea typeface="Roboto Light"/>
                  <a:cs typeface="Roboto Light"/>
                  <a:sym typeface="Roboto Light"/>
                </a:rPr>
                <a:t>Trigger Zone: </a:t>
              </a:r>
              <a:r>
                <a:rPr b="0" lang="vi" sz="1200">
                  <a:solidFill>
                    <a:srgbClr val="FFFFFF"/>
                  </a:solidFill>
                  <a:latin typeface="Roboto Medium"/>
                  <a:ea typeface="Roboto Medium"/>
                  <a:cs typeface="Roboto Medium"/>
                  <a:sym typeface="Roboto Medium"/>
                </a:rPr>
                <a:t>RSI ∈ [25, 55]</a:t>
              </a:r>
              <a:endParaRPr b="0" sz="1200">
                <a:solidFill>
                  <a:srgbClr val="B0BEC5"/>
                </a:solidFill>
                <a:latin typeface="Roboto Light"/>
                <a:ea typeface="Roboto Light"/>
                <a:cs typeface="Roboto Light"/>
                <a:sym typeface="Roboto Light"/>
              </a:endParaRPr>
            </a:p>
            <a:p>
              <a:pPr indent="0" lvl="0" marL="0" rtl="0" algn="l">
                <a:spcBef>
                  <a:spcPts val="509"/>
                </a:spcBef>
                <a:spcAft>
                  <a:spcPts val="0"/>
                </a:spcAft>
                <a:buNone/>
              </a:pPr>
              <a:r>
                <a:rPr b="0" lang="vi" sz="1200">
                  <a:solidFill>
                    <a:srgbClr val="B0BEC5"/>
                  </a:solidFill>
                  <a:latin typeface="Roboto Light"/>
                  <a:ea typeface="Roboto Light"/>
                  <a:cs typeface="Roboto Light"/>
                  <a:sym typeface="Roboto Light"/>
                </a:rPr>
                <a:t>Ensures </a:t>
              </a:r>
              <a:r>
                <a:rPr b="0" lang="vi" sz="1200">
                  <a:solidFill>
                    <a:srgbClr val="FFFFFF"/>
                  </a:solidFill>
                  <a:latin typeface="Roboto Medium"/>
                  <a:ea typeface="Roboto Medium"/>
                  <a:cs typeface="Roboto Medium"/>
                  <a:sym typeface="Roboto Medium"/>
                </a:rPr>
                <a:t>Avg Loss &gt; Avg Gain</a:t>
              </a:r>
              <a:r>
                <a:rPr b="0" lang="vi" sz="1200">
                  <a:solidFill>
                    <a:srgbClr val="B0BEC5"/>
                  </a:solidFill>
                  <a:latin typeface="Roboto Light"/>
                  <a:ea typeface="Roboto Light"/>
                  <a:cs typeface="Roboto Light"/>
                  <a:sym typeface="Roboto Light"/>
                </a:rPr>
                <a:t>. Confirms seller control and downward trend strength.</a:t>
              </a:r>
              <a:endParaRPr b="0" sz="1200">
                <a:solidFill>
                  <a:srgbClr val="B0BEC5"/>
                </a:solidFill>
                <a:latin typeface="Roboto Light"/>
                <a:ea typeface="Roboto Light"/>
                <a:cs typeface="Roboto Light"/>
                <a:sym typeface="Roboto Light"/>
              </a:endParaRPr>
            </a:p>
            <a:p>
              <a:pPr indent="0" lvl="0" marL="0" rtl="0" algn="l">
                <a:spcBef>
                  <a:spcPts val="509"/>
                </a:spcBef>
                <a:spcAft>
                  <a:spcPts val="0"/>
                </a:spcAft>
                <a:buNone/>
              </a:pPr>
              <a:r>
                <a:rPr b="0" lang="vi" sz="1200">
                  <a:solidFill>
                    <a:srgbClr val="FFFFFF"/>
                  </a:solidFill>
                  <a:latin typeface="Roboto Medium"/>
                  <a:ea typeface="Roboto Medium"/>
                  <a:cs typeface="Roboto Medium"/>
                  <a:sym typeface="Roboto Medium"/>
                </a:rPr>
                <a:t>Risk Block:</a:t>
              </a:r>
              <a:r>
                <a:rPr b="0" lang="vi" sz="1200">
                  <a:solidFill>
                    <a:srgbClr val="B0BEC5"/>
                  </a:solidFill>
                  <a:latin typeface="Roboto Light"/>
                  <a:ea typeface="Roboto Light"/>
                  <a:cs typeface="Roboto Light"/>
                  <a:sym typeface="Roboto Light"/>
                </a:rPr>
                <a:t> Rejects entry if </a:t>
              </a:r>
              <a:r>
                <a:rPr b="0" lang="vi" sz="1200">
                  <a:solidFill>
                    <a:srgbClr val="FFFFFF"/>
                  </a:solidFill>
                  <a:latin typeface="Roboto Medium"/>
                  <a:ea typeface="Roboto Medium"/>
                  <a:cs typeface="Roboto Medium"/>
                  <a:sym typeface="Roboto Medium"/>
                </a:rPr>
                <a:t>RSI &lt; 25</a:t>
              </a:r>
              <a:r>
                <a:rPr b="0" lang="vi" sz="1200">
                  <a:solidFill>
                    <a:srgbClr val="B0BEC5"/>
                  </a:solidFill>
                  <a:latin typeface="Roboto Light"/>
                  <a:ea typeface="Roboto Light"/>
                  <a:cs typeface="Roboto Light"/>
                  <a:sym typeface="Roboto Light"/>
                </a:rPr>
                <a:t> (Oversold) to prevent selling at the local bottom.</a:t>
              </a:r>
              <a:endParaRPr b="0" sz="1200">
                <a:solidFill>
                  <a:srgbClr val="B0BEC5"/>
                </a:solidFill>
                <a:latin typeface="Roboto Light"/>
                <a:ea typeface="Roboto Light"/>
                <a:cs typeface="Roboto Light"/>
                <a:sym typeface="Roboto Light"/>
              </a:endParaRPr>
            </a:p>
          </p:txBody>
        </p:sp>
      </p:grpSp>
      <p:pic>
        <p:nvPicPr>
          <p:cNvPr id="155" name="Google Shape;155;p20"/>
          <p:cNvPicPr preferRelativeResize="0"/>
          <p:nvPr/>
        </p:nvPicPr>
        <p:blipFill rotWithShape="1">
          <a:blip r:embed="rId3">
            <a:alphaModFix/>
          </a:blip>
          <a:srcRect b="0" l="0" r="0" t="0"/>
          <a:stretch/>
        </p:blipFill>
        <p:spPr>
          <a:xfrm>
            <a:off x="8382000" y="285750"/>
            <a:ext cx="476400" cy="476400"/>
          </a:xfrm>
          <a:prstGeom prst="rect">
            <a:avLst/>
          </a:prstGeom>
          <a:noFill/>
          <a:ln>
            <a:noFill/>
          </a:ln>
        </p:spPr>
      </p:pic>
      <p:pic>
        <p:nvPicPr>
          <p:cNvPr id="156" name="Google Shape;156;p20"/>
          <p:cNvPicPr preferRelativeResize="0"/>
          <p:nvPr/>
        </p:nvPicPr>
        <p:blipFill>
          <a:blip r:embed="rId4">
            <a:alphaModFix/>
          </a:blip>
          <a:stretch>
            <a:fillRect/>
          </a:stretch>
        </p:blipFill>
        <p:spPr>
          <a:xfrm>
            <a:off x="5715004" y="1762125"/>
            <a:ext cx="3387146" cy="1142850"/>
          </a:xfrm>
          <a:prstGeom prst="rect">
            <a:avLst/>
          </a:prstGeom>
          <a:noFill/>
          <a:ln>
            <a:noFill/>
          </a:ln>
        </p:spPr>
      </p:pic>
      <p:pic>
        <p:nvPicPr>
          <p:cNvPr id="157" name="Google Shape;157;p20"/>
          <p:cNvPicPr preferRelativeResize="0"/>
          <p:nvPr/>
        </p:nvPicPr>
        <p:blipFill>
          <a:blip r:embed="rId5">
            <a:alphaModFix/>
          </a:blip>
          <a:stretch>
            <a:fillRect/>
          </a:stretch>
        </p:blipFill>
        <p:spPr>
          <a:xfrm>
            <a:off x="5715000" y="3111874"/>
            <a:ext cx="3387149" cy="950051"/>
          </a:xfrm>
          <a:prstGeom prst="rect">
            <a:avLst/>
          </a:prstGeom>
          <a:solidFill>
            <a:srgbClr val="0D1B1E"/>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160" name="Shape 160"/>
        <p:cNvGrpSpPr/>
        <p:nvPr/>
      </p:nvGrpSpPr>
      <p:grpSpPr>
        <a:xfrm>
          <a:off x="0" y="0"/>
          <a:ext cx="0" cy="0"/>
          <a:chOff x="0" y="0"/>
          <a:chExt cx="0" cy="0"/>
        </a:xfrm>
      </p:grpSpPr>
      <p:sp>
        <p:nvSpPr>
          <p:cNvPr id="161" name="Google Shape;161;p21"/>
          <p:cNvSpPr txBox="1"/>
          <p:nvPr/>
        </p:nvSpPr>
        <p:spPr>
          <a:xfrm>
            <a:off x="62399" y="0"/>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00">
                <a:solidFill>
                  <a:srgbClr val="00E5FF"/>
                </a:solidFill>
                <a:latin typeface="Montserrat"/>
                <a:ea typeface="Montserrat"/>
                <a:cs typeface="Montserrat"/>
                <a:sym typeface="Montserrat"/>
              </a:rPr>
              <a:t>2.1 Mathematical Foundation</a:t>
            </a:r>
            <a:endParaRPr b="0" sz="1400">
              <a:solidFill>
                <a:srgbClr val="00E5FF"/>
              </a:solidFill>
              <a:latin typeface="Montserrat"/>
              <a:ea typeface="Montserrat"/>
              <a:cs typeface="Montserrat"/>
              <a:sym typeface="Montserrat"/>
            </a:endParaRPr>
          </a:p>
        </p:txBody>
      </p:sp>
      <p:sp>
        <p:nvSpPr>
          <p:cNvPr id="162" name="Google Shape;162;p21"/>
          <p:cNvSpPr txBox="1"/>
          <p:nvPr/>
        </p:nvSpPr>
        <p:spPr>
          <a:xfrm>
            <a:off x="62399" y="381000"/>
            <a:ext cx="5143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400">
                <a:solidFill>
                  <a:srgbClr val="FFFFFF"/>
                </a:solidFill>
                <a:latin typeface="Montserrat ExtraBold"/>
                <a:ea typeface="Montserrat ExtraBold"/>
                <a:cs typeface="Montserrat ExtraBold"/>
                <a:sym typeface="Montserrat ExtraBold"/>
              </a:rPr>
              <a:t>Dynamic Risk Management: Average True Range (ATR)</a:t>
            </a:r>
            <a:endParaRPr b="0" sz="2400">
              <a:solidFill>
                <a:srgbClr val="FFFFFF"/>
              </a:solidFill>
              <a:latin typeface="Montserrat ExtraBold"/>
              <a:ea typeface="Montserrat ExtraBold"/>
              <a:cs typeface="Montserrat ExtraBold"/>
              <a:sym typeface="Montserrat ExtraBold"/>
            </a:endParaRPr>
          </a:p>
        </p:txBody>
      </p:sp>
      <p:sp>
        <p:nvSpPr>
          <p:cNvPr id="163" name="Google Shape;163;p21"/>
          <p:cNvSpPr/>
          <p:nvPr/>
        </p:nvSpPr>
        <p:spPr>
          <a:xfrm>
            <a:off x="0" y="1190625"/>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4" name="Google Shape;164;p21"/>
          <p:cNvGrpSpPr/>
          <p:nvPr/>
        </p:nvGrpSpPr>
        <p:grpSpPr>
          <a:xfrm>
            <a:off x="140150" y="1415879"/>
            <a:ext cx="5574602" cy="1447168"/>
            <a:chOff x="571500" y="1762125"/>
            <a:chExt cx="4953000" cy="1285800"/>
          </a:xfrm>
        </p:grpSpPr>
        <p:sp>
          <p:nvSpPr>
            <p:cNvPr id="165" name="Google Shape;165;p21"/>
            <p:cNvSpPr/>
            <p:nvPr/>
          </p:nvSpPr>
          <p:spPr>
            <a:xfrm>
              <a:off x="571500" y="1762125"/>
              <a:ext cx="4953000" cy="1285800"/>
            </a:xfrm>
            <a:prstGeom prst="roundRect">
              <a:avLst>
                <a:gd fmla="val 2962" name="adj"/>
              </a:avLst>
            </a:prstGeom>
            <a:solidFill>
              <a:srgbClr val="1A237E">
                <a:alpha val="20000"/>
              </a:srgbClr>
            </a:solidFill>
            <a:ln cap="flat" cmpd="sng" w="1072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1"/>
            </a:p>
          </p:txBody>
        </p:sp>
        <p:sp>
          <p:nvSpPr>
            <p:cNvPr id="166" name="Google Shape;166;p21"/>
            <p:cNvSpPr txBox="1"/>
            <p:nvPr/>
          </p:nvSpPr>
          <p:spPr>
            <a:xfrm>
              <a:off x="762000" y="1905000"/>
              <a:ext cx="457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351">
                  <a:solidFill>
                    <a:srgbClr val="00E5FF"/>
                  </a:solidFill>
                  <a:latin typeface="Roboto Mono Medium"/>
                  <a:ea typeface="Roboto Mono Medium"/>
                  <a:cs typeface="Roboto Mono Medium"/>
                  <a:sym typeface="Roboto Mono Medium"/>
                </a:rPr>
                <a:t>TRUE RANGE &amp; VOLATILITY CALCULATION</a:t>
              </a:r>
              <a:endParaRPr b="0" sz="1351">
                <a:solidFill>
                  <a:srgbClr val="00E5FF"/>
                </a:solidFill>
                <a:latin typeface="Roboto Mono Medium"/>
                <a:ea typeface="Roboto Mono Medium"/>
                <a:cs typeface="Roboto Mono Medium"/>
                <a:sym typeface="Roboto Mono Medium"/>
              </a:endParaRPr>
            </a:p>
          </p:txBody>
        </p:sp>
        <p:sp>
          <p:nvSpPr>
            <p:cNvPr id="167" name="Google Shape;167;p21"/>
            <p:cNvSpPr txBox="1"/>
            <p:nvPr/>
          </p:nvSpPr>
          <p:spPr>
            <a:xfrm>
              <a:off x="762000" y="2143125"/>
              <a:ext cx="4572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230">
                  <a:solidFill>
                    <a:srgbClr val="B0BEC5"/>
                  </a:solidFill>
                  <a:latin typeface="Roboto Light"/>
                  <a:ea typeface="Roboto Light"/>
                  <a:cs typeface="Roboto Light"/>
                  <a:sym typeface="Roboto Light"/>
                </a:rPr>
                <a:t>Instead of fixed stop-loss levels, the algorithm calculates real-time market noise through the True Range formula, capturing the greatest price movement in a single candle.</a:t>
              </a:r>
              <a:endParaRPr b="0" sz="1230">
                <a:solidFill>
                  <a:srgbClr val="B0BEC5"/>
                </a:solidFill>
                <a:latin typeface="Roboto Light"/>
                <a:ea typeface="Roboto Light"/>
                <a:cs typeface="Roboto Light"/>
                <a:sym typeface="Roboto Light"/>
              </a:endParaRPr>
            </a:p>
            <a:p>
              <a:pPr indent="0" lvl="0" marL="0" rtl="0" algn="l">
                <a:spcBef>
                  <a:spcPts val="844"/>
                </a:spcBef>
                <a:spcAft>
                  <a:spcPts val="0"/>
                </a:spcAft>
                <a:buNone/>
              </a:pPr>
              <a:r>
                <a:rPr b="0" lang="vi" sz="1277">
                  <a:solidFill>
                    <a:srgbClr val="FFFFFF"/>
                  </a:solidFill>
                  <a:latin typeface="Roboto Mono Medium"/>
                  <a:ea typeface="Roboto Mono Medium"/>
                  <a:cs typeface="Roboto Mono Medium"/>
                  <a:sym typeface="Roboto Mono Medium"/>
                </a:rPr>
                <a:t>TR = max(H - L, |H - Cₚᵣₑᵥ|, |L - Cₚᵣₑᵥ|)</a:t>
              </a:r>
              <a:endParaRPr b="0" sz="1277">
                <a:solidFill>
                  <a:srgbClr val="FFFFFF"/>
                </a:solidFill>
                <a:latin typeface="Roboto Mono Medium"/>
                <a:ea typeface="Roboto Mono Medium"/>
                <a:cs typeface="Roboto Mono Medium"/>
                <a:sym typeface="Roboto Mono Medium"/>
              </a:endParaRPr>
            </a:p>
            <a:p>
              <a:pPr indent="0" lvl="0" marL="0" rtl="0" algn="l">
                <a:spcBef>
                  <a:spcPts val="338"/>
                </a:spcBef>
                <a:spcAft>
                  <a:spcPts val="0"/>
                </a:spcAft>
                <a:buNone/>
              </a:pPr>
              <a:r>
                <a:rPr b="0" lang="vi" sz="1230">
                  <a:solidFill>
                    <a:srgbClr val="B0BEC5"/>
                  </a:solidFill>
                  <a:latin typeface="Roboto Light"/>
                  <a:ea typeface="Roboto Light"/>
                  <a:cs typeface="Roboto Light"/>
                  <a:sym typeface="Roboto Light"/>
                </a:rPr>
                <a:t>ATR = 14-period average of TR</a:t>
              </a:r>
              <a:endParaRPr b="0" sz="1230">
                <a:solidFill>
                  <a:srgbClr val="B0BEC5"/>
                </a:solidFill>
                <a:latin typeface="Roboto Light"/>
                <a:ea typeface="Roboto Light"/>
                <a:cs typeface="Roboto Light"/>
                <a:sym typeface="Roboto Light"/>
              </a:endParaRPr>
            </a:p>
          </p:txBody>
        </p:sp>
      </p:grpSp>
      <p:grpSp>
        <p:nvGrpSpPr>
          <p:cNvPr id="168" name="Google Shape;168;p21"/>
          <p:cNvGrpSpPr/>
          <p:nvPr/>
        </p:nvGrpSpPr>
        <p:grpSpPr>
          <a:xfrm>
            <a:off x="140150" y="3023937"/>
            <a:ext cx="2680266" cy="1768948"/>
            <a:chOff x="571500" y="3190875"/>
            <a:chExt cx="2381400" cy="1571700"/>
          </a:xfrm>
        </p:grpSpPr>
        <p:sp>
          <p:nvSpPr>
            <p:cNvPr id="169" name="Google Shape;169;p21"/>
            <p:cNvSpPr/>
            <p:nvPr/>
          </p:nvSpPr>
          <p:spPr>
            <a:xfrm>
              <a:off x="571500" y="3190875"/>
              <a:ext cx="2381400" cy="1571700"/>
            </a:xfrm>
            <a:prstGeom prst="roundRect">
              <a:avLst>
                <a:gd fmla="val 2424" name="adj"/>
              </a:avLst>
            </a:prstGeom>
            <a:solidFill>
              <a:srgbClr val="1A237E">
                <a:alpha val="20000"/>
              </a:srgbClr>
            </a:solidFill>
            <a:ln cap="flat" cmpd="sng" w="1072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1"/>
            </a:p>
          </p:txBody>
        </p:sp>
        <p:sp>
          <p:nvSpPr>
            <p:cNvPr id="170" name="Google Shape;170;p21"/>
            <p:cNvSpPr txBox="1"/>
            <p:nvPr/>
          </p:nvSpPr>
          <p:spPr>
            <a:xfrm>
              <a:off x="714375" y="3333750"/>
              <a:ext cx="2095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351">
                  <a:solidFill>
                    <a:srgbClr val="00E5FF"/>
                  </a:solidFill>
                  <a:latin typeface="Roboto Mono Medium"/>
                  <a:ea typeface="Roboto Mono Medium"/>
                  <a:cs typeface="Roboto Mono Medium"/>
                  <a:sym typeface="Roboto Mono Medium"/>
                </a:rPr>
                <a:t>ADAPTIVE STOP LOSS</a:t>
              </a:r>
              <a:endParaRPr b="0" sz="1351">
                <a:solidFill>
                  <a:srgbClr val="00E5FF"/>
                </a:solidFill>
                <a:latin typeface="Roboto Mono Medium"/>
                <a:ea typeface="Roboto Mono Medium"/>
                <a:cs typeface="Roboto Mono Medium"/>
                <a:sym typeface="Roboto Mono Medium"/>
              </a:endParaRPr>
            </a:p>
          </p:txBody>
        </p:sp>
        <p:sp>
          <p:nvSpPr>
            <p:cNvPr id="171" name="Google Shape;171;p21"/>
            <p:cNvSpPr txBox="1"/>
            <p:nvPr/>
          </p:nvSpPr>
          <p:spPr>
            <a:xfrm>
              <a:off x="714375" y="3619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230">
                  <a:solidFill>
                    <a:srgbClr val="B0BEC5"/>
                  </a:solidFill>
                  <a:latin typeface="Roboto Light"/>
                  <a:ea typeface="Roboto Light"/>
                  <a:cs typeface="Roboto Light"/>
                  <a:sym typeface="Roboto Light"/>
                </a:rPr>
                <a:t>The system automatically sets the exit point based on volatility:</a:t>
              </a:r>
              <a:endParaRPr b="0" sz="1230">
                <a:solidFill>
                  <a:srgbClr val="B0BEC5"/>
                </a:solidFill>
                <a:latin typeface="Roboto Light"/>
                <a:ea typeface="Roboto Light"/>
                <a:cs typeface="Roboto Light"/>
                <a:sym typeface="Roboto Light"/>
              </a:endParaRPr>
            </a:p>
            <a:p>
              <a:pPr indent="0" lvl="0" marL="0" rtl="0" algn="l">
                <a:spcBef>
                  <a:spcPts val="675"/>
                </a:spcBef>
                <a:spcAft>
                  <a:spcPts val="0"/>
                </a:spcAft>
                <a:buNone/>
              </a:pPr>
              <a:r>
                <a:rPr b="0" lang="vi" sz="1277">
                  <a:solidFill>
                    <a:srgbClr val="FFFFFF"/>
                  </a:solidFill>
                  <a:latin typeface="Roboto Medium"/>
                  <a:ea typeface="Roboto Medium"/>
                  <a:cs typeface="Roboto Medium"/>
                  <a:sym typeface="Roboto Medium"/>
                </a:rPr>
                <a:t>SL = Entry ± (2 × ATR)</a:t>
              </a:r>
              <a:endParaRPr b="0" sz="1277">
                <a:solidFill>
                  <a:srgbClr val="FFFFFF"/>
                </a:solidFill>
                <a:latin typeface="Roboto Medium"/>
                <a:ea typeface="Roboto Medium"/>
                <a:cs typeface="Roboto Medium"/>
                <a:sym typeface="Roboto Medium"/>
              </a:endParaRPr>
            </a:p>
            <a:p>
              <a:pPr indent="0" lvl="0" marL="0" rtl="0" algn="l">
                <a:spcBef>
                  <a:spcPts val="675"/>
                </a:spcBef>
                <a:spcAft>
                  <a:spcPts val="0"/>
                </a:spcAft>
                <a:buNone/>
              </a:pPr>
              <a:r>
                <a:rPr b="0" lang="vi" sz="1230">
                  <a:solidFill>
                    <a:srgbClr val="B0BEC5"/>
                  </a:solidFill>
                  <a:latin typeface="Roboto Light"/>
                  <a:ea typeface="Roboto Light"/>
                  <a:cs typeface="Roboto Light"/>
                  <a:sym typeface="Roboto Light"/>
                </a:rPr>
                <a:t>This buffer prevents "stop-out" during high-frequency market noise.</a:t>
              </a:r>
              <a:endParaRPr b="0" sz="1230">
                <a:solidFill>
                  <a:srgbClr val="B0BEC5"/>
                </a:solidFill>
                <a:latin typeface="Roboto Light"/>
                <a:ea typeface="Roboto Light"/>
                <a:cs typeface="Roboto Light"/>
                <a:sym typeface="Roboto Light"/>
              </a:endParaRPr>
            </a:p>
          </p:txBody>
        </p:sp>
      </p:grpSp>
      <p:grpSp>
        <p:nvGrpSpPr>
          <p:cNvPr id="172" name="Google Shape;172;p21"/>
          <p:cNvGrpSpPr/>
          <p:nvPr/>
        </p:nvGrpSpPr>
        <p:grpSpPr>
          <a:xfrm>
            <a:off x="2967085" y="3064361"/>
            <a:ext cx="2747659" cy="1813427"/>
            <a:chOff x="3143250" y="3190875"/>
            <a:chExt cx="2381400" cy="1571700"/>
          </a:xfrm>
        </p:grpSpPr>
        <p:sp>
          <p:nvSpPr>
            <p:cNvPr id="173" name="Google Shape;173;p21"/>
            <p:cNvSpPr/>
            <p:nvPr/>
          </p:nvSpPr>
          <p:spPr>
            <a:xfrm>
              <a:off x="3143250" y="3190875"/>
              <a:ext cx="2381400" cy="1571700"/>
            </a:xfrm>
            <a:prstGeom prst="roundRect">
              <a:avLst>
                <a:gd fmla="val 2424" name="adj"/>
              </a:avLst>
            </a:prstGeom>
            <a:solidFill>
              <a:srgbClr val="1A237E">
                <a:alpha val="20000"/>
              </a:srgbClr>
            </a:solidFill>
            <a:ln cap="flat" cmpd="sng" w="1100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46"/>
            </a:p>
          </p:txBody>
        </p:sp>
        <p:sp>
          <p:nvSpPr>
            <p:cNvPr id="174" name="Google Shape;174;p21"/>
            <p:cNvSpPr txBox="1"/>
            <p:nvPr/>
          </p:nvSpPr>
          <p:spPr>
            <a:xfrm>
              <a:off x="3286125" y="3333750"/>
              <a:ext cx="2095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385">
                  <a:solidFill>
                    <a:srgbClr val="00E5FF"/>
                  </a:solidFill>
                  <a:latin typeface="Roboto Mono Medium"/>
                  <a:ea typeface="Roboto Mono Medium"/>
                  <a:cs typeface="Roboto Mono Medium"/>
                  <a:sym typeface="Roboto Mono Medium"/>
                </a:rPr>
                <a:t>MARKET CONDITION LOGIC</a:t>
              </a:r>
              <a:endParaRPr b="0" sz="1385">
                <a:solidFill>
                  <a:srgbClr val="00E5FF"/>
                </a:solidFill>
                <a:latin typeface="Roboto Mono Medium"/>
                <a:ea typeface="Roboto Mono Medium"/>
                <a:cs typeface="Roboto Mono Medium"/>
                <a:sym typeface="Roboto Mono Medium"/>
              </a:endParaRPr>
            </a:p>
          </p:txBody>
        </p:sp>
        <p:sp>
          <p:nvSpPr>
            <p:cNvPr id="175" name="Google Shape;175;p21"/>
            <p:cNvSpPr txBox="1"/>
            <p:nvPr/>
          </p:nvSpPr>
          <p:spPr>
            <a:xfrm>
              <a:off x="3286125" y="3619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261">
                  <a:solidFill>
                    <a:srgbClr val="00E5FF"/>
                  </a:solidFill>
                  <a:latin typeface="Roboto Light"/>
                  <a:ea typeface="Roboto Light"/>
                  <a:cs typeface="Roboto Light"/>
                  <a:sym typeface="Roboto Light"/>
                </a:rPr>
                <a:t>●</a:t>
              </a:r>
              <a:r>
                <a:rPr b="0" lang="vi" sz="1261">
                  <a:solidFill>
                    <a:srgbClr val="B0BEC5"/>
                  </a:solidFill>
                  <a:latin typeface="Roboto Light"/>
                  <a:ea typeface="Roboto Light"/>
                  <a:cs typeface="Roboto Light"/>
                  <a:sym typeface="Roboto Light"/>
                </a:rPr>
                <a:t> </a:t>
              </a:r>
              <a:r>
                <a:rPr b="0" lang="vi" sz="1261">
                  <a:solidFill>
                    <a:srgbClr val="FFFFFF"/>
                  </a:solidFill>
                  <a:latin typeface="Roboto Medium"/>
                  <a:ea typeface="Roboto Medium"/>
                  <a:cs typeface="Roboto Medium"/>
                  <a:sym typeface="Roboto Medium"/>
                </a:rPr>
                <a:t>High Volatility:</a:t>
              </a:r>
              <a:r>
                <a:rPr b="0" lang="vi" sz="1261">
                  <a:solidFill>
                    <a:srgbClr val="B0BEC5"/>
                  </a:solidFill>
                  <a:latin typeface="Roboto Light"/>
                  <a:ea typeface="Roboto Light"/>
                  <a:cs typeface="Roboto Light"/>
                  <a:sym typeface="Roboto Light"/>
                </a:rPr>
                <a:t> Widens SL to survive sharp market swings.</a:t>
              </a:r>
              <a:endParaRPr b="0" sz="1261">
                <a:solidFill>
                  <a:srgbClr val="B0BEC5"/>
                </a:solidFill>
                <a:latin typeface="Roboto Light"/>
                <a:ea typeface="Roboto Light"/>
                <a:cs typeface="Roboto Light"/>
                <a:sym typeface="Roboto Light"/>
              </a:endParaRPr>
            </a:p>
            <a:p>
              <a:pPr indent="0" lvl="0" marL="0" rtl="0" algn="l">
                <a:spcBef>
                  <a:spcPts val="692"/>
                </a:spcBef>
                <a:spcAft>
                  <a:spcPts val="0"/>
                </a:spcAft>
                <a:buNone/>
              </a:pPr>
              <a:r>
                <a:rPr b="0" lang="vi" sz="1261">
                  <a:solidFill>
                    <a:srgbClr val="00E5FF"/>
                  </a:solidFill>
                  <a:latin typeface="Roboto Light"/>
                  <a:ea typeface="Roboto Light"/>
                  <a:cs typeface="Roboto Light"/>
                  <a:sym typeface="Roboto Light"/>
                </a:rPr>
                <a:t>●</a:t>
              </a:r>
              <a:r>
                <a:rPr b="0" lang="vi" sz="1261">
                  <a:solidFill>
                    <a:srgbClr val="B0BEC5"/>
                  </a:solidFill>
                  <a:latin typeface="Roboto Light"/>
                  <a:ea typeface="Roboto Light"/>
                  <a:cs typeface="Roboto Light"/>
                  <a:sym typeface="Roboto Light"/>
                </a:rPr>
                <a:t> </a:t>
              </a:r>
              <a:r>
                <a:rPr b="0" lang="vi" sz="1261">
                  <a:solidFill>
                    <a:srgbClr val="FFFFFF"/>
                  </a:solidFill>
                  <a:latin typeface="Roboto Medium"/>
                  <a:ea typeface="Roboto Medium"/>
                  <a:cs typeface="Roboto Medium"/>
                  <a:sym typeface="Roboto Medium"/>
                </a:rPr>
                <a:t>Low Volatility:</a:t>
              </a:r>
              <a:r>
                <a:rPr b="0" lang="vi" sz="1261">
                  <a:solidFill>
                    <a:srgbClr val="B0BEC5"/>
                  </a:solidFill>
                  <a:latin typeface="Roboto Light"/>
                  <a:ea typeface="Roboto Light"/>
                  <a:cs typeface="Roboto Light"/>
                  <a:sym typeface="Roboto Light"/>
                </a:rPr>
                <a:t> Tightens SL to optimize the Risk/Reward ratio.</a:t>
              </a:r>
              <a:endParaRPr b="0" sz="1261">
                <a:solidFill>
                  <a:srgbClr val="B0BEC5"/>
                </a:solidFill>
                <a:latin typeface="Roboto Light"/>
                <a:ea typeface="Roboto Light"/>
                <a:cs typeface="Roboto Light"/>
                <a:sym typeface="Roboto Light"/>
              </a:endParaRPr>
            </a:p>
          </p:txBody>
        </p:sp>
      </p:grpSp>
      <p:pic>
        <p:nvPicPr>
          <p:cNvPr id="176" name="Google Shape;176;p21"/>
          <p:cNvPicPr preferRelativeResize="0"/>
          <p:nvPr/>
        </p:nvPicPr>
        <p:blipFill rotWithShape="1">
          <a:blip r:embed="rId3">
            <a:alphaModFix/>
          </a:blip>
          <a:srcRect b="0" l="0" r="0" t="0"/>
          <a:stretch/>
        </p:blipFill>
        <p:spPr>
          <a:xfrm>
            <a:off x="8382000" y="285750"/>
            <a:ext cx="476400" cy="476400"/>
          </a:xfrm>
          <a:prstGeom prst="rect">
            <a:avLst/>
          </a:prstGeom>
          <a:noFill/>
          <a:ln>
            <a:noFill/>
          </a:ln>
        </p:spPr>
      </p:pic>
      <p:pic>
        <p:nvPicPr>
          <p:cNvPr id="177" name="Google Shape;177;p21"/>
          <p:cNvPicPr preferRelativeResize="0"/>
          <p:nvPr/>
        </p:nvPicPr>
        <p:blipFill>
          <a:blip r:embed="rId4">
            <a:alphaModFix/>
          </a:blip>
          <a:stretch>
            <a:fillRect/>
          </a:stretch>
        </p:blipFill>
        <p:spPr>
          <a:xfrm>
            <a:off x="5801200" y="1787900"/>
            <a:ext cx="3294274" cy="1111525"/>
          </a:xfrm>
          <a:prstGeom prst="rect">
            <a:avLst/>
          </a:prstGeom>
          <a:noFill/>
          <a:ln>
            <a:noFill/>
          </a:ln>
        </p:spPr>
      </p:pic>
      <p:pic>
        <p:nvPicPr>
          <p:cNvPr id="178" name="Google Shape;178;p21"/>
          <p:cNvPicPr preferRelativeResize="0"/>
          <p:nvPr/>
        </p:nvPicPr>
        <p:blipFill>
          <a:blip r:embed="rId5">
            <a:alphaModFix/>
          </a:blip>
          <a:stretch>
            <a:fillRect/>
          </a:stretch>
        </p:blipFill>
        <p:spPr>
          <a:xfrm>
            <a:off x="5801200" y="3102274"/>
            <a:ext cx="3294274" cy="924001"/>
          </a:xfrm>
          <a:prstGeom prst="rect">
            <a:avLst/>
          </a:prstGeom>
          <a:solidFill>
            <a:srgbClr val="0D1B1E"/>
          </a:solid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181" name="Shape 181"/>
        <p:cNvGrpSpPr/>
        <p:nvPr/>
      </p:nvGrpSpPr>
      <p:grpSpPr>
        <a:xfrm>
          <a:off x="0" y="0"/>
          <a:ext cx="0" cy="0"/>
          <a:chOff x="0" y="0"/>
          <a:chExt cx="0" cy="0"/>
        </a:xfrm>
      </p:grpSpPr>
      <p:sp>
        <p:nvSpPr>
          <p:cNvPr id="182" name="Google Shape;182;p22"/>
          <p:cNvSpPr txBox="1"/>
          <p:nvPr/>
        </p:nvSpPr>
        <p:spPr>
          <a:xfrm>
            <a:off x="98056" y="0"/>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00">
                <a:solidFill>
                  <a:srgbClr val="00E5FF"/>
                </a:solidFill>
                <a:latin typeface="Montserrat"/>
                <a:ea typeface="Montserrat"/>
                <a:cs typeface="Montserrat"/>
                <a:sym typeface="Montserrat"/>
              </a:rPr>
              <a:t>2.2 Data &amp; Implementation</a:t>
            </a:r>
            <a:endParaRPr b="0" sz="1400">
              <a:solidFill>
                <a:srgbClr val="00E5FF"/>
              </a:solidFill>
              <a:latin typeface="Montserrat"/>
              <a:ea typeface="Montserrat"/>
              <a:cs typeface="Montserrat"/>
              <a:sym typeface="Montserrat"/>
            </a:endParaRPr>
          </a:p>
        </p:txBody>
      </p:sp>
      <p:sp>
        <p:nvSpPr>
          <p:cNvPr id="183" name="Google Shape;183;p22"/>
          <p:cNvSpPr txBox="1"/>
          <p:nvPr/>
        </p:nvSpPr>
        <p:spPr>
          <a:xfrm>
            <a:off x="98056" y="381000"/>
            <a:ext cx="5143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405">
                <a:solidFill>
                  <a:srgbClr val="FFFFFF"/>
                </a:solidFill>
                <a:latin typeface="Montserrat ExtraBold"/>
                <a:ea typeface="Montserrat ExtraBold"/>
                <a:cs typeface="Montserrat ExtraBold"/>
                <a:sym typeface="Montserrat ExtraBold"/>
              </a:rPr>
              <a:t>Data Infrastructure &amp; Execution</a:t>
            </a:r>
            <a:endParaRPr b="0" sz="2405">
              <a:solidFill>
                <a:srgbClr val="FFFFFF"/>
              </a:solidFill>
              <a:latin typeface="Montserrat ExtraBold"/>
              <a:ea typeface="Montserrat ExtraBold"/>
              <a:cs typeface="Montserrat ExtraBold"/>
              <a:sym typeface="Montserrat ExtraBold"/>
            </a:endParaRPr>
          </a:p>
        </p:txBody>
      </p:sp>
      <p:sp>
        <p:nvSpPr>
          <p:cNvPr id="184" name="Google Shape;184;p22"/>
          <p:cNvSpPr/>
          <p:nvPr/>
        </p:nvSpPr>
        <p:spPr>
          <a:xfrm>
            <a:off x="0" y="1190625"/>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5" name="Google Shape;185;p22"/>
          <p:cNvGrpSpPr/>
          <p:nvPr/>
        </p:nvGrpSpPr>
        <p:grpSpPr>
          <a:xfrm>
            <a:off x="172359" y="1300048"/>
            <a:ext cx="3106522" cy="1792412"/>
            <a:chOff x="571500" y="1762125"/>
            <a:chExt cx="2476500" cy="1428900"/>
          </a:xfrm>
        </p:grpSpPr>
        <p:sp>
          <p:nvSpPr>
            <p:cNvPr id="186" name="Google Shape;186;p22"/>
            <p:cNvSpPr/>
            <p:nvPr/>
          </p:nvSpPr>
          <p:spPr>
            <a:xfrm>
              <a:off x="571500" y="1762125"/>
              <a:ext cx="2476500" cy="1428900"/>
            </a:xfrm>
            <a:prstGeom prst="roundRect">
              <a:avLst>
                <a:gd fmla="val 2666" name="adj"/>
              </a:avLst>
            </a:prstGeom>
            <a:solidFill>
              <a:srgbClr val="1A237E">
                <a:alpha val="20000"/>
              </a:srgbClr>
            </a:solidFill>
            <a:ln cap="flat" cmpd="sng" w="119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7"/>
            </a:p>
          </p:txBody>
        </p:sp>
        <p:sp>
          <p:nvSpPr>
            <p:cNvPr id="187" name="Google Shape;187;p22"/>
            <p:cNvSpPr txBox="1"/>
            <p:nvPr/>
          </p:nvSpPr>
          <p:spPr>
            <a:xfrm>
              <a:off x="714375" y="1857375"/>
              <a:ext cx="2190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11">
                  <a:solidFill>
                    <a:srgbClr val="00E5FF"/>
                  </a:solidFill>
                  <a:latin typeface="Roboto Mono Medium"/>
                  <a:ea typeface="Roboto Mono Medium"/>
                  <a:cs typeface="Roboto Mono Medium"/>
                  <a:sym typeface="Roboto Mono Medium"/>
                </a:rPr>
                <a:t>DATA &amp; ROLL SCHEDULE</a:t>
              </a:r>
              <a:endParaRPr b="0" sz="1211">
                <a:solidFill>
                  <a:srgbClr val="00E5FF"/>
                </a:solidFill>
                <a:latin typeface="Roboto Mono Medium"/>
                <a:ea typeface="Roboto Mono Medium"/>
                <a:cs typeface="Roboto Mono Medium"/>
                <a:sym typeface="Roboto Mono Medium"/>
              </a:endParaRPr>
            </a:p>
          </p:txBody>
        </p:sp>
        <p:sp>
          <p:nvSpPr>
            <p:cNvPr id="188" name="Google Shape;188;p22"/>
            <p:cNvSpPr txBox="1"/>
            <p:nvPr/>
          </p:nvSpPr>
          <p:spPr>
            <a:xfrm>
              <a:off x="714375" y="2095500"/>
              <a:ext cx="21909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153">
                  <a:solidFill>
                    <a:srgbClr val="B0BEC5"/>
                  </a:solidFill>
                  <a:latin typeface="Roboto Light"/>
                  <a:ea typeface="Roboto Light"/>
                  <a:cs typeface="Roboto Light"/>
                  <a:sym typeface="Roboto Light"/>
                </a:rPr>
                <a:t>Source: </a:t>
              </a:r>
              <a:r>
                <a:rPr b="0" lang="vi" sz="1211">
                  <a:solidFill>
                    <a:srgbClr val="FFFFFF"/>
                  </a:solidFill>
                  <a:latin typeface="Roboto Mono"/>
                  <a:ea typeface="Roboto Mono"/>
                  <a:cs typeface="Roboto Mono"/>
                  <a:sym typeface="Roboto Mono"/>
                </a:rPr>
                <a:t>algotradeDB</a:t>
              </a:r>
              <a:r>
                <a:rPr b="0" lang="vi" sz="1153">
                  <a:solidFill>
                    <a:srgbClr val="B0BEC5"/>
                  </a:solidFill>
                  <a:latin typeface="Roboto Light"/>
                  <a:ea typeface="Roboto Light"/>
                  <a:cs typeface="Roboto Light"/>
                  <a:sym typeface="Roboto Light"/>
                </a:rPr>
                <a:t> (1-min chart)</a:t>
              </a:r>
              <a:endParaRPr b="0" sz="1153">
                <a:solidFill>
                  <a:srgbClr val="B0BEC5"/>
                </a:solidFill>
                <a:latin typeface="Roboto Light"/>
                <a:ea typeface="Roboto Light"/>
                <a:cs typeface="Roboto Light"/>
                <a:sym typeface="Roboto Light"/>
              </a:endParaRPr>
            </a:p>
            <a:p>
              <a:pPr indent="0" lvl="0" marL="0" rtl="0" algn="l">
                <a:spcBef>
                  <a:spcPts val="564"/>
                </a:spcBef>
                <a:spcAft>
                  <a:spcPts val="0"/>
                </a:spcAft>
                <a:buNone/>
              </a:pPr>
              <a:r>
                <a:rPr b="0" lang="vi" sz="1153">
                  <a:solidFill>
                    <a:srgbClr val="B0BEC5"/>
                  </a:solidFill>
                  <a:latin typeface="Roboto Light"/>
                  <a:ea typeface="Roboto Light"/>
                  <a:cs typeface="Roboto Light"/>
                  <a:sym typeface="Roboto Light"/>
                </a:rPr>
                <a:t>Roll Schedule Logic:</a:t>
              </a:r>
              <a:endParaRPr b="0" sz="1153">
                <a:solidFill>
                  <a:srgbClr val="B0BEC5"/>
                </a:solidFill>
                <a:latin typeface="Roboto Light"/>
                <a:ea typeface="Roboto Light"/>
                <a:cs typeface="Roboto Light"/>
                <a:sym typeface="Roboto Light"/>
              </a:endParaRPr>
            </a:p>
            <a:p>
              <a:pPr indent="-359981" lvl="0" marL="573508" rtl="0" algn="l">
                <a:spcBef>
                  <a:spcPts val="376"/>
                </a:spcBef>
                <a:spcAft>
                  <a:spcPts val="0"/>
                </a:spcAft>
                <a:buClr>
                  <a:srgbClr val="B0BEC5"/>
                </a:buClr>
                <a:buSzPts val="1153"/>
                <a:buFont typeface="Roboto"/>
                <a:buChar char="●"/>
              </a:pPr>
              <a:r>
                <a:rPr b="0" lang="vi" sz="1153">
                  <a:solidFill>
                    <a:srgbClr val="B0BEC5"/>
                  </a:solidFill>
                  <a:latin typeface="Roboto Light"/>
                  <a:ea typeface="Roboto Light"/>
                  <a:cs typeface="Roboto Light"/>
                  <a:sym typeface="Roboto Light"/>
                </a:rPr>
                <a:t>41 expiration cycles (2023-2026)</a:t>
              </a:r>
              <a:endParaRPr b="0" sz="1153">
                <a:solidFill>
                  <a:srgbClr val="B0BEC5"/>
                </a:solidFill>
                <a:latin typeface="Roboto Light"/>
                <a:ea typeface="Roboto Light"/>
                <a:cs typeface="Roboto Light"/>
                <a:sym typeface="Roboto Light"/>
              </a:endParaRPr>
            </a:p>
            <a:p>
              <a:pPr indent="-359981" lvl="0" marL="573508" rtl="0" algn="l">
                <a:spcBef>
                  <a:spcPts val="282"/>
                </a:spcBef>
                <a:spcAft>
                  <a:spcPts val="0"/>
                </a:spcAft>
                <a:buClr>
                  <a:srgbClr val="B0BEC5"/>
                </a:buClr>
                <a:buSzPts val="1153"/>
                <a:buFont typeface="Roboto"/>
                <a:buChar char="●"/>
              </a:pPr>
              <a:r>
                <a:rPr b="0" lang="vi" sz="1153">
                  <a:solidFill>
                    <a:srgbClr val="B0BEC5"/>
                  </a:solidFill>
                  <a:latin typeface="Roboto Light"/>
                  <a:ea typeface="Roboto Light"/>
                  <a:cs typeface="Roboto Light"/>
                  <a:sym typeface="Roboto Light"/>
                </a:rPr>
                <a:t>Auto-mapping for VNF301M continuity</a:t>
              </a:r>
              <a:endParaRPr b="0" sz="1153">
                <a:solidFill>
                  <a:srgbClr val="B0BEC5"/>
                </a:solidFill>
                <a:latin typeface="Roboto Light"/>
                <a:ea typeface="Roboto Light"/>
                <a:cs typeface="Roboto Light"/>
                <a:sym typeface="Roboto Light"/>
              </a:endParaRPr>
            </a:p>
            <a:p>
              <a:pPr indent="-359981" lvl="0" marL="573508" rtl="0" algn="l">
                <a:spcBef>
                  <a:spcPts val="282"/>
                </a:spcBef>
                <a:spcAft>
                  <a:spcPts val="376"/>
                </a:spcAft>
                <a:buClr>
                  <a:srgbClr val="B0BEC5"/>
                </a:buClr>
                <a:buSzPts val="1153"/>
                <a:buFont typeface="Roboto"/>
                <a:buChar char="●"/>
              </a:pPr>
              <a:r>
                <a:rPr b="0" lang="vi" sz="1153">
                  <a:solidFill>
                    <a:srgbClr val="B0BEC5"/>
                  </a:solidFill>
                  <a:latin typeface="Roboto Light"/>
                  <a:ea typeface="Roboto Light"/>
                  <a:cs typeface="Roboto Light"/>
                  <a:sym typeface="Roboto Light"/>
                </a:rPr>
                <a:t>Gap-less price transition handling</a:t>
              </a:r>
              <a:endParaRPr b="0" sz="1153">
                <a:solidFill>
                  <a:srgbClr val="B0BEC5"/>
                </a:solidFill>
                <a:latin typeface="Roboto Light"/>
                <a:ea typeface="Roboto Light"/>
                <a:cs typeface="Roboto Light"/>
                <a:sym typeface="Roboto Light"/>
              </a:endParaRPr>
            </a:p>
          </p:txBody>
        </p:sp>
      </p:grpSp>
      <p:grpSp>
        <p:nvGrpSpPr>
          <p:cNvPr id="189" name="Google Shape;189;p22"/>
          <p:cNvGrpSpPr/>
          <p:nvPr/>
        </p:nvGrpSpPr>
        <p:grpSpPr>
          <a:xfrm>
            <a:off x="3517844" y="1300048"/>
            <a:ext cx="2867558" cy="1792412"/>
            <a:chOff x="3238500" y="1762125"/>
            <a:chExt cx="2286000" cy="1428900"/>
          </a:xfrm>
        </p:grpSpPr>
        <p:sp>
          <p:nvSpPr>
            <p:cNvPr id="190" name="Google Shape;190;p22"/>
            <p:cNvSpPr/>
            <p:nvPr/>
          </p:nvSpPr>
          <p:spPr>
            <a:xfrm>
              <a:off x="3238500" y="1762125"/>
              <a:ext cx="2286000" cy="1428900"/>
            </a:xfrm>
            <a:prstGeom prst="roundRect">
              <a:avLst>
                <a:gd fmla="val 2666" name="adj"/>
              </a:avLst>
            </a:prstGeom>
            <a:solidFill>
              <a:srgbClr val="1A237E">
                <a:alpha val="20000"/>
              </a:srgbClr>
            </a:solidFill>
            <a:ln cap="flat" cmpd="sng" w="119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7"/>
            </a:p>
          </p:txBody>
        </p:sp>
        <p:sp>
          <p:nvSpPr>
            <p:cNvPr id="191" name="Google Shape;191;p22"/>
            <p:cNvSpPr txBox="1"/>
            <p:nvPr/>
          </p:nvSpPr>
          <p:spPr>
            <a:xfrm>
              <a:off x="3381375" y="1857375"/>
              <a:ext cx="20001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11">
                  <a:solidFill>
                    <a:srgbClr val="00E5FF"/>
                  </a:solidFill>
                  <a:latin typeface="Roboto Mono Medium"/>
                  <a:ea typeface="Roboto Mono Medium"/>
                  <a:cs typeface="Roboto Mono Medium"/>
                  <a:sym typeface="Roboto Mono Medium"/>
                </a:rPr>
                <a:t>RISK CONFIGURATION</a:t>
              </a:r>
              <a:endParaRPr b="0" sz="1211">
                <a:solidFill>
                  <a:srgbClr val="00E5FF"/>
                </a:solidFill>
                <a:latin typeface="Roboto Mono Medium"/>
                <a:ea typeface="Roboto Mono Medium"/>
                <a:cs typeface="Roboto Mono Medium"/>
                <a:sym typeface="Roboto Mono Medium"/>
              </a:endParaRPr>
            </a:p>
          </p:txBody>
        </p:sp>
        <p:sp>
          <p:nvSpPr>
            <p:cNvPr id="192" name="Google Shape;192;p22"/>
            <p:cNvSpPr txBox="1"/>
            <p:nvPr/>
          </p:nvSpPr>
          <p:spPr>
            <a:xfrm>
              <a:off x="3381375" y="2095500"/>
              <a:ext cx="20001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153">
                  <a:solidFill>
                    <a:srgbClr val="B0BEC5"/>
                  </a:solidFill>
                  <a:latin typeface="Roboto Light"/>
                  <a:ea typeface="Roboto Light"/>
                  <a:cs typeface="Roboto Light"/>
                  <a:sym typeface="Roboto Light"/>
                </a:rPr>
                <a:t>Capital: </a:t>
              </a:r>
              <a:r>
                <a:rPr b="0" lang="vi" sz="1211">
                  <a:solidFill>
                    <a:srgbClr val="FFFFFF"/>
                  </a:solidFill>
                  <a:latin typeface="Roboto Mono"/>
                  <a:ea typeface="Roboto Mono"/>
                  <a:cs typeface="Roboto Mono"/>
                  <a:sym typeface="Roboto Mono"/>
                </a:rPr>
                <a:t>500M VNĐ</a:t>
              </a:r>
              <a:r>
                <a:rPr b="0" lang="vi" sz="1153">
                  <a:solidFill>
                    <a:srgbClr val="B0BEC5"/>
                  </a:solidFill>
                  <a:latin typeface="Roboto Light"/>
                  <a:ea typeface="Roboto Light"/>
                  <a:cs typeface="Roboto Light"/>
                  <a:sym typeface="Roboto Light"/>
                </a:rPr>
                <a:t> | Fee: </a:t>
              </a:r>
              <a:r>
                <a:rPr b="0" lang="vi" sz="1211">
                  <a:solidFill>
                    <a:srgbClr val="FFFFFF"/>
                  </a:solidFill>
                  <a:latin typeface="Roboto Mono"/>
                  <a:ea typeface="Roboto Mono"/>
                  <a:cs typeface="Roboto Mono"/>
                  <a:sym typeface="Roboto Mono"/>
                </a:rPr>
                <a:t>35k/side</a:t>
              </a:r>
              <a:endParaRPr b="0" sz="1153">
                <a:solidFill>
                  <a:srgbClr val="B0BEC5"/>
                </a:solidFill>
                <a:latin typeface="Roboto Light"/>
                <a:ea typeface="Roboto Light"/>
                <a:cs typeface="Roboto Light"/>
                <a:sym typeface="Roboto Light"/>
              </a:endParaRPr>
            </a:p>
            <a:p>
              <a:pPr indent="0" lvl="0" marL="0" rtl="0" algn="l">
                <a:spcBef>
                  <a:spcPts val="564"/>
                </a:spcBef>
                <a:spcAft>
                  <a:spcPts val="0"/>
                </a:spcAft>
                <a:buNone/>
              </a:pPr>
              <a:r>
                <a:rPr b="0" lang="vi" sz="1153">
                  <a:solidFill>
                    <a:srgbClr val="B0BEC5"/>
                  </a:solidFill>
                  <a:latin typeface="Roboto Light"/>
                  <a:ea typeface="Roboto Light"/>
                  <a:cs typeface="Roboto Light"/>
                  <a:sym typeface="Roboto Light"/>
                </a:rPr>
                <a:t>Execution Rules:</a:t>
              </a:r>
              <a:endParaRPr b="0" sz="1153">
                <a:solidFill>
                  <a:srgbClr val="B0BEC5"/>
                </a:solidFill>
                <a:latin typeface="Roboto Light"/>
                <a:ea typeface="Roboto Light"/>
                <a:cs typeface="Roboto Light"/>
                <a:sym typeface="Roboto Light"/>
              </a:endParaRPr>
            </a:p>
            <a:p>
              <a:pPr indent="-359981" lvl="0" marL="573508" rtl="0" algn="l">
                <a:spcBef>
                  <a:spcPts val="376"/>
                </a:spcBef>
                <a:spcAft>
                  <a:spcPts val="0"/>
                </a:spcAft>
                <a:buClr>
                  <a:srgbClr val="B0BEC5"/>
                </a:buClr>
                <a:buSzPts val="1153"/>
                <a:buFont typeface="Roboto"/>
                <a:buChar char="●"/>
              </a:pPr>
              <a:r>
                <a:rPr b="0" lang="vi" sz="1153">
                  <a:solidFill>
                    <a:srgbClr val="B0BEC5"/>
                  </a:solidFill>
                  <a:latin typeface="Roboto Light"/>
                  <a:ea typeface="Roboto Light"/>
                  <a:cs typeface="Roboto Light"/>
                  <a:sym typeface="Roboto Light"/>
                </a:rPr>
                <a:t>Volume Filter: &gt; 110% Avg</a:t>
              </a:r>
              <a:endParaRPr b="0" sz="1153">
                <a:solidFill>
                  <a:srgbClr val="B0BEC5"/>
                </a:solidFill>
                <a:latin typeface="Roboto Light"/>
                <a:ea typeface="Roboto Light"/>
                <a:cs typeface="Roboto Light"/>
                <a:sym typeface="Roboto Light"/>
              </a:endParaRPr>
            </a:p>
            <a:p>
              <a:pPr indent="-359981" lvl="0" marL="573508" rtl="0" algn="l">
                <a:spcBef>
                  <a:spcPts val="282"/>
                </a:spcBef>
                <a:spcAft>
                  <a:spcPts val="0"/>
                </a:spcAft>
                <a:buClr>
                  <a:srgbClr val="B0BEC5"/>
                </a:buClr>
                <a:buSzPts val="1153"/>
                <a:buFont typeface="Roboto"/>
                <a:buChar char="●"/>
              </a:pPr>
              <a:r>
                <a:rPr b="0" lang="vi" sz="1153">
                  <a:solidFill>
                    <a:srgbClr val="B0BEC5"/>
                  </a:solidFill>
                  <a:latin typeface="Roboto Light"/>
                  <a:ea typeface="Roboto Light"/>
                  <a:cs typeface="Roboto Light"/>
                  <a:sym typeface="Roboto Light"/>
                </a:rPr>
                <a:t>Stop Loss: 2.0 × ATR</a:t>
              </a:r>
              <a:endParaRPr b="0" sz="1153">
                <a:solidFill>
                  <a:srgbClr val="B0BEC5"/>
                </a:solidFill>
                <a:latin typeface="Roboto Light"/>
                <a:ea typeface="Roboto Light"/>
                <a:cs typeface="Roboto Light"/>
                <a:sym typeface="Roboto Light"/>
              </a:endParaRPr>
            </a:p>
            <a:p>
              <a:pPr indent="-359981" lvl="0" marL="573508" rtl="0" algn="l">
                <a:spcBef>
                  <a:spcPts val="282"/>
                </a:spcBef>
                <a:spcAft>
                  <a:spcPts val="376"/>
                </a:spcAft>
                <a:buClr>
                  <a:srgbClr val="B0BEC5"/>
                </a:buClr>
                <a:buSzPts val="1153"/>
                <a:buFont typeface="Roboto"/>
                <a:buChar char="●"/>
              </a:pPr>
              <a:r>
                <a:rPr b="0" lang="vi" sz="1153">
                  <a:solidFill>
                    <a:srgbClr val="B0BEC5"/>
                  </a:solidFill>
                  <a:latin typeface="Roboto Light"/>
                  <a:ea typeface="Roboto Light"/>
                  <a:cs typeface="Roboto Light"/>
                  <a:sym typeface="Roboto Light"/>
                </a:rPr>
                <a:t>Trailing Stop: 1.5 × ATR</a:t>
              </a:r>
              <a:endParaRPr b="0" sz="1153">
                <a:solidFill>
                  <a:srgbClr val="B0BEC5"/>
                </a:solidFill>
                <a:latin typeface="Roboto Light"/>
                <a:ea typeface="Roboto Light"/>
                <a:cs typeface="Roboto Light"/>
                <a:sym typeface="Roboto Light"/>
              </a:endParaRPr>
            </a:p>
          </p:txBody>
        </p:sp>
      </p:grpSp>
      <p:grpSp>
        <p:nvGrpSpPr>
          <p:cNvPr id="193" name="Google Shape;193;p22"/>
          <p:cNvGrpSpPr/>
          <p:nvPr/>
        </p:nvGrpSpPr>
        <p:grpSpPr>
          <a:xfrm>
            <a:off x="172359" y="3331236"/>
            <a:ext cx="6213043" cy="1732577"/>
            <a:chOff x="571500" y="3381375"/>
            <a:chExt cx="4953000" cy="1381200"/>
          </a:xfrm>
        </p:grpSpPr>
        <p:sp>
          <p:nvSpPr>
            <p:cNvPr id="194" name="Google Shape;194;p22"/>
            <p:cNvSpPr/>
            <p:nvPr/>
          </p:nvSpPr>
          <p:spPr>
            <a:xfrm>
              <a:off x="571500" y="3381375"/>
              <a:ext cx="4953000" cy="1381200"/>
            </a:xfrm>
            <a:prstGeom prst="roundRect">
              <a:avLst>
                <a:gd fmla="val 2758"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7"/>
            </a:p>
          </p:txBody>
        </p:sp>
        <p:sp>
          <p:nvSpPr>
            <p:cNvPr id="195" name="Google Shape;195;p22"/>
            <p:cNvSpPr txBox="1"/>
            <p:nvPr/>
          </p:nvSpPr>
          <p:spPr>
            <a:xfrm>
              <a:off x="762000" y="3476625"/>
              <a:ext cx="457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11">
                  <a:solidFill>
                    <a:srgbClr val="00E5FF"/>
                  </a:solidFill>
                  <a:latin typeface="Roboto Mono Medium"/>
                  <a:ea typeface="Roboto Mono Medium"/>
                  <a:cs typeface="Roboto Mono Medium"/>
                  <a:sym typeface="Roboto Mono Medium"/>
                </a:rPr>
                <a:t>LIVE ARCHITECTURE &amp; CONNECTIVITY</a:t>
              </a:r>
              <a:endParaRPr b="0" sz="1211">
                <a:solidFill>
                  <a:srgbClr val="00E5FF"/>
                </a:solidFill>
                <a:latin typeface="Roboto Mono Medium"/>
                <a:ea typeface="Roboto Mono Medium"/>
                <a:cs typeface="Roboto Mono Medium"/>
                <a:sym typeface="Roboto Mono Medium"/>
              </a:endParaRPr>
            </a:p>
          </p:txBody>
        </p:sp>
        <p:grpSp>
          <p:nvGrpSpPr>
            <p:cNvPr id="196" name="Google Shape;196;p22"/>
            <p:cNvGrpSpPr/>
            <p:nvPr/>
          </p:nvGrpSpPr>
          <p:grpSpPr>
            <a:xfrm>
              <a:off x="762000" y="3810000"/>
              <a:ext cx="1381200" cy="809700"/>
              <a:chOff x="762000" y="3810000"/>
              <a:chExt cx="1381200" cy="809700"/>
            </a:xfrm>
          </p:grpSpPr>
          <p:sp>
            <p:nvSpPr>
              <p:cNvPr id="197" name="Google Shape;197;p22"/>
              <p:cNvSpPr/>
              <p:nvPr/>
            </p:nvSpPr>
            <p:spPr>
              <a:xfrm>
                <a:off x="762000" y="3810000"/>
                <a:ext cx="1381200" cy="809700"/>
              </a:xfrm>
              <a:prstGeom prst="roundRect">
                <a:avLst>
                  <a:gd fmla="val 4705" name="adj"/>
                </a:avLst>
              </a:prstGeom>
              <a:solidFill>
                <a:srgbClr val="00E5FF">
                  <a:alpha val="10000"/>
                </a:srgbClr>
              </a:solidFill>
              <a:ln cap="flat" cmpd="sng" w="59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7"/>
              </a:p>
            </p:txBody>
          </p:sp>
          <p:sp>
            <p:nvSpPr>
              <p:cNvPr id="198" name="Google Shape;198;p22"/>
              <p:cNvSpPr txBox="1"/>
              <p:nvPr/>
            </p:nvSpPr>
            <p:spPr>
              <a:xfrm>
                <a:off x="762000" y="3810000"/>
                <a:ext cx="1381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153">
                    <a:solidFill>
                      <a:srgbClr val="FFFFFF"/>
                    </a:solidFill>
                    <a:latin typeface="Roboto Medium"/>
                    <a:ea typeface="Roboto Medium"/>
                    <a:cs typeface="Roboto Medium"/>
                    <a:sym typeface="Roboto Medium"/>
                  </a:rPr>
                  <a:t>FIX PROTOCOL</a:t>
                </a:r>
                <a:endParaRPr b="0" sz="1153">
                  <a:solidFill>
                    <a:srgbClr val="FFFFFF"/>
                  </a:solidFill>
                  <a:latin typeface="Roboto Medium"/>
                  <a:ea typeface="Roboto Medium"/>
                  <a:cs typeface="Roboto Medium"/>
                  <a:sym typeface="Roboto Medium"/>
                </a:endParaRPr>
              </a:p>
              <a:p>
                <a:pPr indent="0" lvl="0" marL="0" rtl="0" algn="ctr">
                  <a:spcBef>
                    <a:spcPts val="0"/>
                  </a:spcBef>
                  <a:spcAft>
                    <a:spcPts val="0"/>
                  </a:spcAft>
                  <a:buNone/>
                </a:pPr>
                <a:r>
                  <a:rPr b="0" lang="vi" sz="1117">
                    <a:solidFill>
                      <a:srgbClr val="B0BEC5"/>
                    </a:solidFill>
                    <a:latin typeface="Roboto Light"/>
                    <a:ea typeface="Roboto Light"/>
                    <a:cs typeface="Roboto Light"/>
                    <a:sym typeface="Roboto Light"/>
                  </a:rPr>
                  <a:t>Port 5001</a:t>
                </a:r>
                <a:endParaRPr b="0" sz="1117">
                  <a:solidFill>
                    <a:srgbClr val="B0BEC5"/>
                  </a:solidFill>
                  <a:latin typeface="Roboto Light"/>
                  <a:ea typeface="Roboto Light"/>
                  <a:cs typeface="Roboto Light"/>
                  <a:sym typeface="Roboto Light"/>
                </a:endParaRPr>
              </a:p>
              <a:p>
                <a:pPr indent="0" lvl="0" marL="0" rtl="0" algn="ctr">
                  <a:spcBef>
                    <a:spcPts val="376"/>
                  </a:spcBef>
                  <a:spcAft>
                    <a:spcPts val="0"/>
                  </a:spcAft>
                  <a:buNone/>
                </a:pPr>
                <a:r>
                  <a:rPr b="0" lang="vi" sz="1054">
                    <a:solidFill>
                      <a:srgbClr val="B0BEC5"/>
                    </a:solidFill>
                    <a:latin typeface="Roboto Light"/>
                    <a:ea typeface="Roboto Light"/>
                    <a:cs typeface="Roboto Light"/>
                    <a:sym typeface="Roboto Light"/>
                  </a:rPr>
                  <a:t>Low-latency order routing</a:t>
                </a:r>
                <a:endParaRPr b="0" sz="1054">
                  <a:solidFill>
                    <a:srgbClr val="B0BEC5"/>
                  </a:solidFill>
                  <a:latin typeface="Roboto Light"/>
                  <a:ea typeface="Roboto Light"/>
                  <a:cs typeface="Roboto Light"/>
                  <a:sym typeface="Roboto Light"/>
                </a:endParaRPr>
              </a:p>
            </p:txBody>
          </p:sp>
        </p:grpSp>
        <p:grpSp>
          <p:nvGrpSpPr>
            <p:cNvPr id="199" name="Google Shape;199;p22"/>
            <p:cNvGrpSpPr/>
            <p:nvPr/>
          </p:nvGrpSpPr>
          <p:grpSpPr>
            <a:xfrm>
              <a:off x="2352675" y="3810000"/>
              <a:ext cx="1381200" cy="809700"/>
              <a:chOff x="2352675" y="3810000"/>
              <a:chExt cx="1381200" cy="809700"/>
            </a:xfrm>
          </p:grpSpPr>
          <p:sp>
            <p:nvSpPr>
              <p:cNvPr id="200" name="Google Shape;200;p22"/>
              <p:cNvSpPr/>
              <p:nvPr/>
            </p:nvSpPr>
            <p:spPr>
              <a:xfrm>
                <a:off x="2352675" y="3810000"/>
                <a:ext cx="1381200" cy="809700"/>
              </a:xfrm>
              <a:prstGeom prst="roundRect">
                <a:avLst>
                  <a:gd fmla="val 4705" name="adj"/>
                </a:avLst>
              </a:prstGeom>
              <a:solidFill>
                <a:srgbClr val="00E5FF">
                  <a:alpha val="10000"/>
                </a:srgbClr>
              </a:solidFill>
              <a:ln cap="flat" cmpd="sng" w="59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7"/>
              </a:p>
            </p:txBody>
          </p:sp>
          <p:sp>
            <p:nvSpPr>
              <p:cNvPr id="201" name="Google Shape;201;p22"/>
              <p:cNvSpPr txBox="1"/>
              <p:nvPr/>
            </p:nvSpPr>
            <p:spPr>
              <a:xfrm>
                <a:off x="2352675" y="3810000"/>
                <a:ext cx="1381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153">
                    <a:solidFill>
                      <a:srgbClr val="FFFFFF"/>
                    </a:solidFill>
                    <a:latin typeface="Roboto Medium"/>
                    <a:ea typeface="Roboto Medium"/>
                    <a:cs typeface="Roboto Medium"/>
                    <a:sym typeface="Roboto Medium"/>
                  </a:rPr>
                  <a:t>REST API</a:t>
                </a:r>
                <a:endParaRPr b="0" sz="1153">
                  <a:solidFill>
                    <a:srgbClr val="FFFFFF"/>
                  </a:solidFill>
                  <a:latin typeface="Roboto Medium"/>
                  <a:ea typeface="Roboto Medium"/>
                  <a:cs typeface="Roboto Medium"/>
                  <a:sym typeface="Roboto Medium"/>
                </a:endParaRPr>
              </a:p>
              <a:p>
                <a:pPr indent="0" lvl="0" marL="0" rtl="0" algn="ctr">
                  <a:spcBef>
                    <a:spcPts val="376"/>
                  </a:spcBef>
                  <a:spcAft>
                    <a:spcPts val="0"/>
                  </a:spcAft>
                  <a:buNone/>
                </a:pPr>
                <a:r>
                  <a:rPr b="0" lang="vi" sz="1054">
                    <a:solidFill>
                      <a:srgbClr val="B0BEC5"/>
                    </a:solidFill>
                    <a:latin typeface="Roboto Light"/>
                    <a:ea typeface="Roboto Light"/>
                    <a:cs typeface="Roboto Light"/>
                    <a:sym typeface="Roboto Light"/>
                  </a:rPr>
                  <a:t>Balance reconciliation &amp; Account sync</a:t>
                </a:r>
                <a:endParaRPr b="0" sz="1054">
                  <a:solidFill>
                    <a:srgbClr val="B0BEC5"/>
                  </a:solidFill>
                  <a:latin typeface="Roboto Light"/>
                  <a:ea typeface="Roboto Light"/>
                  <a:cs typeface="Roboto Light"/>
                  <a:sym typeface="Roboto Light"/>
                </a:endParaRPr>
              </a:p>
            </p:txBody>
          </p:sp>
        </p:grpSp>
        <p:grpSp>
          <p:nvGrpSpPr>
            <p:cNvPr id="202" name="Google Shape;202;p22"/>
            <p:cNvGrpSpPr/>
            <p:nvPr/>
          </p:nvGrpSpPr>
          <p:grpSpPr>
            <a:xfrm>
              <a:off x="3943350" y="3810000"/>
              <a:ext cx="1381200" cy="809700"/>
              <a:chOff x="3943350" y="3810000"/>
              <a:chExt cx="1381200" cy="809700"/>
            </a:xfrm>
          </p:grpSpPr>
          <p:sp>
            <p:nvSpPr>
              <p:cNvPr id="203" name="Google Shape;203;p22"/>
              <p:cNvSpPr/>
              <p:nvPr/>
            </p:nvSpPr>
            <p:spPr>
              <a:xfrm>
                <a:off x="3943350" y="3810000"/>
                <a:ext cx="1381200" cy="809700"/>
              </a:xfrm>
              <a:prstGeom prst="roundRect">
                <a:avLst>
                  <a:gd fmla="val 4705" name="adj"/>
                </a:avLst>
              </a:prstGeom>
              <a:solidFill>
                <a:srgbClr val="00E5FF">
                  <a:alpha val="10000"/>
                </a:srgbClr>
              </a:solidFill>
              <a:ln cap="flat" cmpd="sng" w="59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7"/>
              </a:p>
            </p:txBody>
          </p:sp>
          <p:sp>
            <p:nvSpPr>
              <p:cNvPr id="204" name="Google Shape;204;p22"/>
              <p:cNvSpPr txBox="1"/>
              <p:nvPr/>
            </p:nvSpPr>
            <p:spPr>
              <a:xfrm>
                <a:off x="3943350" y="3810000"/>
                <a:ext cx="1381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153">
                    <a:solidFill>
                      <a:srgbClr val="FFFFFF"/>
                    </a:solidFill>
                    <a:latin typeface="Roboto Medium"/>
                    <a:ea typeface="Roboto Medium"/>
                    <a:cs typeface="Roboto Medium"/>
                    <a:sym typeface="Roboto Medium"/>
                  </a:rPr>
                  <a:t>MONITORING</a:t>
                </a:r>
                <a:endParaRPr b="0" sz="1153">
                  <a:solidFill>
                    <a:srgbClr val="FFFFFF"/>
                  </a:solidFill>
                  <a:latin typeface="Roboto Medium"/>
                  <a:ea typeface="Roboto Medium"/>
                  <a:cs typeface="Roboto Medium"/>
                  <a:sym typeface="Roboto Medium"/>
                </a:endParaRPr>
              </a:p>
              <a:p>
                <a:pPr indent="0" lvl="0" marL="0" rtl="0" algn="ctr">
                  <a:spcBef>
                    <a:spcPts val="376"/>
                  </a:spcBef>
                  <a:spcAft>
                    <a:spcPts val="0"/>
                  </a:spcAft>
                  <a:buNone/>
                </a:pPr>
                <a:r>
                  <a:rPr b="0" lang="vi" sz="1054">
                    <a:solidFill>
                      <a:srgbClr val="B0BEC5"/>
                    </a:solidFill>
                    <a:latin typeface="Roboto Light"/>
                    <a:ea typeface="Roboto Light"/>
                    <a:cs typeface="Roboto Light"/>
                    <a:sym typeface="Roboto Light"/>
                  </a:rPr>
                  <a:t>Telegram Alerts &amp; Real-time Auto-sync</a:t>
                </a:r>
                <a:endParaRPr b="0" sz="1054">
                  <a:solidFill>
                    <a:srgbClr val="B0BEC5"/>
                  </a:solidFill>
                  <a:latin typeface="Roboto Light"/>
                  <a:ea typeface="Roboto Light"/>
                  <a:cs typeface="Roboto Light"/>
                  <a:sym typeface="Roboto Light"/>
                </a:endParaRPr>
              </a:p>
            </p:txBody>
          </p:sp>
        </p:grpSp>
      </p:grpSp>
      <p:pic>
        <p:nvPicPr>
          <p:cNvPr id="205" name="Google Shape;205;p22"/>
          <p:cNvPicPr preferRelativeResize="0"/>
          <p:nvPr/>
        </p:nvPicPr>
        <p:blipFill rotWithShape="1">
          <a:blip r:embed="rId3">
            <a:alphaModFix/>
          </a:blip>
          <a:srcRect b="-2390" l="0" r="0" t="2390"/>
          <a:stretch/>
        </p:blipFill>
        <p:spPr>
          <a:xfrm>
            <a:off x="6428975" y="152400"/>
            <a:ext cx="2155470" cy="48386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p23"/>
          <p:cNvSpPr txBox="1"/>
          <p:nvPr/>
        </p:nvSpPr>
        <p:spPr>
          <a:xfrm>
            <a:off x="306475" y="1778965"/>
            <a:ext cx="8761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4200">
                <a:solidFill>
                  <a:srgbClr val="00E5FF"/>
                </a:solidFill>
                <a:latin typeface="Montserrat"/>
                <a:ea typeface="Montserrat"/>
                <a:cs typeface="Montserrat"/>
                <a:sym typeface="Montserrat"/>
              </a:rPr>
              <a:t>3. In-Sample Backtesting (2023 - 2024)</a:t>
            </a:r>
            <a:endParaRPr b="1" sz="4200">
              <a:solidFill>
                <a:srgbClr val="00E5FF"/>
              </a:solidFill>
              <a:latin typeface="Montserrat"/>
              <a:ea typeface="Montserrat"/>
              <a:cs typeface="Montserrat"/>
              <a:sym typeface="Montserrat"/>
            </a:endParaRPr>
          </a:p>
          <a:p>
            <a:pPr indent="0" lvl="0" marL="0" rtl="0" algn="ctr">
              <a:spcBef>
                <a:spcPts val="0"/>
              </a:spcBef>
              <a:spcAft>
                <a:spcPts val="0"/>
              </a:spcAft>
              <a:buNone/>
            </a:pPr>
            <a:r>
              <a:t/>
            </a:r>
            <a:endParaRPr sz="4200">
              <a:solidFill>
                <a:srgbClr val="FFFFFF"/>
              </a:solidFill>
              <a:latin typeface="Montserrat ExtraBold"/>
              <a:ea typeface="Montserrat ExtraBold"/>
              <a:cs typeface="Montserrat ExtraBold"/>
              <a:sym typeface="Montserrat ExtraBold"/>
            </a:endParaRPr>
          </a:p>
        </p:txBody>
      </p:sp>
      <p:pic>
        <p:nvPicPr>
          <p:cNvPr id="210" name="Google Shape;210;p23"/>
          <p:cNvPicPr preferRelativeResize="0"/>
          <p:nvPr/>
        </p:nvPicPr>
        <p:blipFill rotWithShape="1">
          <a:blip r:embed="rId4">
            <a:alphaModFix/>
          </a:blip>
          <a:srcRect b="0" l="0" r="0" t="0"/>
          <a:stretch/>
        </p:blipFill>
        <p:spPr>
          <a:xfrm>
            <a:off x="306475" y="2984465"/>
            <a:ext cx="2286000" cy="28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213" name="Shape 213"/>
        <p:cNvGrpSpPr/>
        <p:nvPr/>
      </p:nvGrpSpPr>
      <p:grpSpPr>
        <a:xfrm>
          <a:off x="0" y="0"/>
          <a:ext cx="0" cy="0"/>
          <a:chOff x="0" y="0"/>
          <a:chExt cx="0" cy="0"/>
        </a:xfrm>
      </p:grpSpPr>
      <p:sp>
        <p:nvSpPr>
          <p:cNvPr id="214" name="Google Shape;214;p24"/>
          <p:cNvSpPr txBox="1"/>
          <p:nvPr/>
        </p:nvSpPr>
        <p:spPr>
          <a:xfrm>
            <a:off x="0" y="0"/>
            <a:ext cx="476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1400">
                <a:solidFill>
                  <a:srgbClr val="00E5FF"/>
                </a:solidFill>
                <a:latin typeface="Montserrat"/>
                <a:ea typeface="Montserrat"/>
                <a:cs typeface="Montserrat"/>
                <a:sym typeface="Montserrat"/>
              </a:rPr>
              <a:t>03. In-Sample Backtesting (2023 - 2024)</a:t>
            </a:r>
            <a:endParaRPr b="0" sz="1400">
              <a:solidFill>
                <a:srgbClr val="00E5FF"/>
              </a:solidFill>
              <a:latin typeface="Montserrat"/>
              <a:ea typeface="Montserrat"/>
              <a:cs typeface="Montserrat"/>
              <a:sym typeface="Montserrat"/>
            </a:endParaRPr>
          </a:p>
        </p:txBody>
      </p:sp>
      <p:sp>
        <p:nvSpPr>
          <p:cNvPr id="215" name="Google Shape;215;p24"/>
          <p:cNvSpPr txBox="1"/>
          <p:nvPr/>
        </p:nvSpPr>
        <p:spPr>
          <a:xfrm>
            <a:off x="0" y="381000"/>
            <a:ext cx="5143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2400">
                <a:solidFill>
                  <a:srgbClr val="FFFFFF"/>
                </a:solidFill>
                <a:latin typeface="Montserrat ExtraBold"/>
                <a:ea typeface="Montserrat ExtraBold"/>
                <a:cs typeface="Montserrat ExtraBold"/>
                <a:sym typeface="Montserrat ExtraBold"/>
              </a:rPr>
              <a:t>The Sideway Market Challenge</a:t>
            </a:r>
            <a:endParaRPr b="0" sz="2400">
              <a:solidFill>
                <a:srgbClr val="FFFFFF"/>
              </a:solidFill>
              <a:latin typeface="Montserrat ExtraBold"/>
              <a:ea typeface="Montserrat ExtraBold"/>
              <a:cs typeface="Montserrat ExtraBold"/>
              <a:sym typeface="Montserrat ExtraBold"/>
            </a:endParaRPr>
          </a:p>
        </p:txBody>
      </p:sp>
      <p:sp>
        <p:nvSpPr>
          <p:cNvPr id="216" name="Google Shape;216;p24"/>
          <p:cNvSpPr/>
          <p:nvPr/>
        </p:nvSpPr>
        <p:spPr>
          <a:xfrm>
            <a:off x="0" y="1190625"/>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7" name="Google Shape;217;p24"/>
          <p:cNvGrpSpPr/>
          <p:nvPr/>
        </p:nvGrpSpPr>
        <p:grpSpPr>
          <a:xfrm>
            <a:off x="-25" y="1279051"/>
            <a:ext cx="2857386" cy="1977504"/>
            <a:chOff x="1035039" y="1762125"/>
            <a:chExt cx="2476500" cy="1476300"/>
          </a:xfrm>
        </p:grpSpPr>
        <p:sp>
          <p:nvSpPr>
            <p:cNvPr id="218" name="Google Shape;218;p24"/>
            <p:cNvSpPr/>
            <p:nvPr/>
          </p:nvSpPr>
          <p:spPr>
            <a:xfrm>
              <a:off x="1035039" y="1762125"/>
              <a:ext cx="2476500" cy="1476300"/>
            </a:xfrm>
            <a:prstGeom prst="roundRect">
              <a:avLst>
                <a:gd fmla="val 2580" name="adj"/>
              </a:avLst>
            </a:prstGeom>
            <a:solidFill>
              <a:srgbClr val="1A237E">
                <a:alpha val="20000"/>
              </a:srgbClr>
            </a:solidFill>
            <a:ln cap="flat" cmpd="sng" w="1100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62"/>
            </a:p>
          </p:txBody>
        </p:sp>
        <p:sp>
          <p:nvSpPr>
            <p:cNvPr id="219" name="Google Shape;219;p24"/>
            <p:cNvSpPr txBox="1"/>
            <p:nvPr/>
          </p:nvSpPr>
          <p:spPr>
            <a:xfrm>
              <a:off x="1177914" y="1857375"/>
              <a:ext cx="21909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1242">
                  <a:solidFill>
                    <a:srgbClr val="00E5FF"/>
                  </a:solidFill>
                  <a:latin typeface="Roboto Mono Medium"/>
                  <a:ea typeface="Roboto Mono Medium"/>
                  <a:cs typeface="Roboto Mono Medium"/>
                  <a:sym typeface="Roboto Mono Medium"/>
                </a:rPr>
                <a:t>DETAILED STATISTICS (1M)</a:t>
              </a:r>
              <a:endParaRPr b="0" sz="1242">
                <a:solidFill>
                  <a:srgbClr val="00E5FF"/>
                </a:solidFill>
                <a:latin typeface="Roboto Mono Medium"/>
                <a:ea typeface="Roboto Mono Medium"/>
                <a:cs typeface="Roboto Mono Medium"/>
                <a:sym typeface="Roboto Mono Medium"/>
              </a:endParaRPr>
            </a:p>
          </p:txBody>
        </p:sp>
        <p:sp>
          <p:nvSpPr>
            <p:cNvPr id="220" name="Google Shape;220;p24"/>
            <p:cNvSpPr txBox="1"/>
            <p:nvPr/>
          </p:nvSpPr>
          <p:spPr>
            <a:xfrm>
              <a:off x="1177914" y="2143125"/>
              <a:ext cx="2190900" cy="1095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vi" sz="1127">
                  <a:solidFill>
                    <a:srgbClr val="B0BEC5"/>
                  </a:solidFill>
                  <a:latin typeface="Roboto Light"/>
                  <a:ea typeface="Roboto Light"/>
                  <a:cs typeface="Roboto Light"/>
                  <a:sym typeface="Roboto Light"/>
                </a:rPr>
                <a:t>Total Trades: </a:t>
              </a:r>
              <a:r>
                <a:rPr b="1" lang="vi" sz="1300">
                  <a:solidFill>
                    <a:srgbClr val="FFFFFF"/>
                  </a:solidFill>
                  <a:latin typeface="Roboto Mono"/>
                  <a:ea typeface="Roboto Mono"/>
                  <a:cs typeface="Roboto Mono"/>
                  <a:sym typeface="Roboto Mono"/>
                </a:rPr>
                <a:t>8,467</a:t>
              </a:r>
              <a:endParaRPr b="0" sz="1127">
                <a:solidFill>
                  <a:srgbClr val="B0BEC5"/>
                </a:solidFill>
                <a:latin typeface="Roboto Light"/>
                <a:ea typeface="Roboto Light"/>
                <a:cs typeface="Roboto Light"/>
                <a:sym typeface="Roboto Light"/>
              </a:endParaRPr>
            </a:p>
            <a:p>
              <a:pPr indent="0" lvl="0" marL="0" rtl="0" algn="l">
                <a:spcBef>
                  <a:spcPts val="462"/>
                </a:spcBef>
                <a:spcAft>
                  <a:spcPts val="0"/>
                </a:spcAft>
                <a:buNone/>
              </a:pPr>
              <a:r>
                <a:rPr b="0" lang="vi" sz="1127">
                  <a:solidFill>
                    <a:srgbClr val="B0BEC5"/>
                  </a:solidFill>
                  <a:latin typeface="Roboto Light"/>
                  <a:ea typeface="Roboto Light"/>
                  <a:cs typeface="Roboto Light"/>
                  <a:sym typeface="Roboto Light"/>
                </a:rPr>
                <a:t>Win Rate: </a:t>
              </a:r>
              <a:r>
                <a:rPr b="1" lang="vi" sz="1300">
                  <a:solidFill>
                    <a:srgbClr val="FFFFFF"/>
                  </a:solidFill>
                  <a:latin typeface="Roboto Mono"/>
                  <a:ea typeface="Roboto Mono"/>
                  <a:cs typeface="Roboto Mono"/>
                  <a:sym typeface="Roboto Mono"/>
                </a:rPr>
                <a:t>37.63%</a:t>
              </a:r>
              <a:endParaRPr b="0" sz="1127">
                <a:solidFill>
                  <a:srgbClr val="B0BEC5"/>
                </a:solidFill>
                <a:latin typeface="Roboto Light"/>
                <a:ea typeface="Roboto Light"/>
                <a:cs typeface="Roboto Light"/>
                <a:sym typeface="Roboto Light"/>
              </a:endParaRPr>
            </a:p>
            <a:p>
              <a:pPr indent="0" lvl="0" marL="0" rtl="0" algn="l">
                <a:spcBef>
                  <a:spcPts val="462"/>
                </a:spcBef>
                <a:spcAft>
                  <a:spcPts val="0"/>
                </a:spcAft>
                <a:buNone/>
              </a:pPr>
              <a:r>
                <a:rPr b="0" lang="vi" sz="1127">
                  <a:solidFill>
                    <a:srgbClr val="B0BEC5"/>
                  </a:solidFill>
                  <a:latin typeface="Roboto Light"/>
                  <a:ea typeface="Roboto Light"/>
                  <a:cs typeface="Roboto Light"/>
                  <a:sym typeface="Roboto Light"/>
                </a:rPr>
                <a:t>Avg Profit/Loss: </a:t>
              </a:r>
              <a:r>
                <a:rPr b="1" lang="vi" sz="1300">
                  <a:solidFill>
                    <a:srgbClr val="FFFFFF"/>
                  </a:solidFill>
                  <a:latin typeface="Roboto Mono"/>
                  <a:ea typeface="Roboto Mono"/>
                  <a:cs typeface="Roboto Mono"/>
                  <a:sym typeface="Roboto Mono"/>
                </a:rPr>
                <a:t>177,834 / -157,221</a:t>
              </a:r>
              <a:endParaRPr b="0" sz="1127">
                <a:solidFill>
                  <a:srgbClr val="B0BEC5"/>
                </a:solidFill>
                <a:latin typeface="Roboto Light"/>
                <a:ea typeface="Roboto Light"/>
                <a:cs typeface="Roboto Light"/>
                <a:sym typeface="Roboto Light"/>
              </a:endParaRPr>
            </a:p>
            <a:p>
              <a:pPr indent="0" lvl="0" marL="0" rtl="0" algn="l">
                <a:spcBef>
                  <a:spcPts val="462"/>
                </a:spcBef>
                <a:spcAft>
                  <a:spcPts val="0"/>
                </a:spcAft>
                <a:buNone/>
              </a:pPr>
              <a:r>
                <a:rPr b="0" lang="vi" sz="1127">
                  <a:solidFill>
                    <a:srgbClr val="B0BEC5"/>
                  </a:solidFill>
                  <a:latin typeface="Roboto Light"/>
                  <a:ea typeface="Roboto Light"/>
                  <a:cs typeface="Roboto Light"/>
                  <a:sym typeface="Roboto Light"/>
                </a:rPr>
                <a:t>Avg Hold Time: </a:t>
              </a:r>
              <a:r>
                <a:rPr b="1" lang="vi" sz="1300">
                  <a:solidFill>
                    <a:srgbClr val="FFFFFF"/>
                  </a:solidFill>
                  <a:latin typeface="Roboto Mono"/>
                  <a:ea typeface="Roboto Mono"/>
                  <a:cs typeface="Roboto Mono"/>
                  <a:sym typeface="Roboto Mono"/>
                </a:rPr>
                <a:t>12 min</a:t>
              </a:r>
              <a:endParaRPr b="0" sz="1127">
                <a:solidFill>
                  <a:srgbClr val="B0BEC5"/>
                </a:solidFill>
                <a:latin typeface="Roboto Light"/>
                <a:ea typeface="Roboto Light"/>
                <a:cs typeface="Roboto Light"/>
                <a:sym typeface="Roboto Light"/>
              </a:endParaRPr>
            </a:p>
            <a:p>
              <a:pPr indent="0" lvl="0" marL="0" rtl="0" algn="l">
                <a:spcBef>
                  <a:spcPts val="462"/>
                </a:spcBef>
                <a:spcAft>
                  <a:spcPts val="0"/>
                </a:spcAft>
                <a:buNone/>
              </a:pPr>
              <a:r>
                <a:rPr b="0" lang="vi" sz="1127">
                  <a:solidFill>
                    <a:srgbClr val="B0BEC5"/>
                  </a:solidFill>
                  <a:latin typeface="Roboto Light"/>
                  <a:ea typeface="Roboto Light"/>
                  <a:cs typeface="Roboto Light"/>
                  <a:sym typeface="Roboto Light"/>
                </a:rPr>
                <a:t>Final Capital: </a:t>
              </a:r>
              <a:r>
                <a:rPr b="1" lang="vi" sz="1300">
                  <a:solidFill>
                    <a:srgbClr val="FF5252"/>
                  </a:solidFill>
                  <a:latin typeface="Roboto Mono"/>
                  <a:ea typeface="Roboto Mono"/>
                  <a:cs typeface="Roboto Mono"/>
                  <a:sym typeface="Roboto Mono"/>
                </a:rPr>
                <a:t>-60,050,000 VNĐ</a:t>
              </a:r>
              <a:endParaRPr b="0" sz="1127">
                <a:solidFill>
                  <a:srgbClr val="B0BEC5"/>
                </a:solidFill>
                <a:latin typeface="Roboto Light"/>
                <a:ea typeface="Roboto Light"/>
                <a:cs typeface="Roboto Light"/>
                <a:sym typeface="Roboto Light"/>
              </a:endParaRPr>
            </a:p>
          </p:txBody>
        </p:sp>
      </p:grpSp>
      <p:grpSp>
        <p:nvGrpSpPr>
          <p:cNvPr id="221" name="Google Shape;221;p24"/>
          <p:cNvGrpSpPr/>
          <p:nvPr/>
        </p:nvGrpSpPr>
        <p:grpSpPr>
          <a:xfrm>
            <a:off x="3077151" y="1298420"/>
            <a:ext cx="2513323" cy="1958215"/>
            <a:chOff x="3702032" y="1776585"/>
            <a:chExt cx="2178300" cy="1461900"/>
          </a:xfrm>
        </p:grpSpPr>
        <p:sp>
          <p:nvSpPr>
            <p:cNvPr id="222" name="Google Shape;222;p24"/>
            <p:cNvSpPr/>
            <p:nvPr/>
          </p:nvSpPr>
          <p:spPr>
            <a:xfrm>
              <a:off x="3702032" y="1776585"/>
              <a:ext cx="2178300" cy="1461900"/>
            </a:xfrm>
            <a:prstGeom prst="roundRect">
              <a:avLst>
                <a:gd fmla="val 2580" name="adj"/>
              </a:avLst>
            </a:prstGeom>
            <a:solidFill>
              <a:srgbClr val="1A237E">
                <a:alpha val="20000"/>
              </a:srgbClr>
            </a:solidFill>
            <a:ln cap="flat" cmpd="sng" w="1100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62"/>
            </a:p>
          </p:txBody>
        </p:sp>
        <p:sp>
          <p:nvSpPr>
            <p:cNvPr id="223" name="Google Shape;223;p24"/>
            <p:cNvSpPr txBox="1"/>
            <p:nvPr/>
          </p:nvSpPr>
          <p:spPr>
            <a:xfrm>
              <a:off x="3844914" y="1857375"/>
              <a:ext cx="20001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1242">
                  <a:solidFill>
                    <a:srgbClr val="00E5FF"/>
                  </a:solidFill>
                  <a:latin typeface="Roboto Mono Medium"/>
                  <a:ea typeface="Roboto Mono Medium"/>
                  <a:cs typeface="Roboto Mono Medium"/>
                  <a:sym typeface="Roboto Mono Medium"/>
                </a:rPr>
                <a:t>TOTAL RETURN</a:t>
              </a:r>
              <a:endParaRPr b="0" sz="1242">
                <a:solidFill>
                  <a:srgbClr val="00E5FF"/>
                </a:solidFill>
                <a:latin typeface="Roboto Mono Medium"/>
                <a:ea typeface="Roboto Mono Medium"/>
                <a:cs typeface="Roboto Mono Medium"/>
                <a:sym typeface="Roboto Mono Medium"/>
              </a:endParaRPr>
            </a:p>
          </p:txBody>
        </p:sp>
        <p:sp>
          <p:nvSpPr>
            <p:cNvPr id="224" name="Google Shape;224;p24"/>
            <p:cNvSpPr txBox="1"/>
            <p:nvPr/>
          </p:nvSpPr>
          <p:spPr>
            <a:xfrm>
              <a:off x="3844914" y="2143125"/>
              <a:ext cx="2000100" cy="10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vi" sz="2685">
                  <a:solidFill>
                    <a:srgbClr val="FF5252"/>
                  </a:solidFill>
                  <a:latin typeface="Roboto"/>
                  <a:ea typeface="Roboto"/>
                  <a:cs typeface="Roboto"/>
                  <a:sym typeface="Roboto"/>
                </a:rPr>
                <a:t>-112.01%</a:t>
              </a:r>
              <a:endParaRPr b="1" sz="2685">
                <a:solidFill>
                  <a:srgbClr val="FF5252"/>
                </a:solidFill>
                <a:latin typeface="Roboto"/>
                <a:ea typeface="Roboto"/>
                <a:cs typeface="Roboto"/>
                <a:sym typeface="Roboto"/>
              </a:endParaRPr>
            </a:p>
            <a:p>
              <a:pPr indent="0" lvl="0" marL="0" rtl="0" algn="ctr">
                <a:spcBef>
                  <a:spcPts val="577"/>
                </a:spcBef>
                <a:spcAft>
                  <a:spcPts val="0"/>
                </a:spcAft>
                <a:buNone/>
              </a:pPr>
              <a:r>
                <a:rPr b="0" lang="vi" sz="1185">
                  <a:solidFill>
                    <a:srgbClr val="FFFFFF"/>
                  </a:solidFill>
                  <a:latin typeface="Roboto Light"/>
                  <a:ea typeface="Roboto Light"/>
                  <a:cs typeface="Roboto Light"/>
                  <a:sym typeface="Roboto Light"/>
                </a:rPr>
                <a:t>Account Bankrupted</a:t>
              </a:r>
              <a:endParaRPr b="0" sz="1185">
                <a:solidFill>
                  <a:srgbClr val="FFFFFF"/>
                </a:solidFill>
                <a:latin typeface="Roboto Light"/>
                <a:ea typeface="Roboto Light"/>
                <a:cs typeface="Roboto Light"/>
                <a:sym typeface="Roboto Light"/>
              </a:endParaRPr>
            </a:p>
            <a:p>
              <a:pPr indent="0" lvl="0" marL="0" rtl="0" algn="ctr">
                <a:spcBef>
                  <a:spcPts val="231"/>
                </a:spcBef>
                <a:spcAft>
                  <a:spcPts val="0"/>
                </a:spcAft>
                <a:buNone/>
              </a:pPr>
              <a:r>
                <a:rPr b="0" lang="vi" sz="1069">
                  <a:solidFill>
                    <a:srgbClr val="B0BEC5"/>
                  </a:solidFill>
                  <a:latin typeface="Roboto Light"/>
                  <a:ea typeface="Roboto Light"/>
                  <a:cs typeface="Roboto Light"/>
                  <a:sym typeface="Roboto Light"/>
                </a:rPr>
                <a:t>Loss: 560,050,000 VNĐ</a:t>
              </a:r>
              <a:endParaRPr b="0" sz="1069">
                <a:solidFill>
                  <a:srgbClr val="B0BEC5"/>
                </a:solidFill>
                <a:latin typeface="Roboto Light"/>
                <a:ea typeface="Roboto Light"/>
                <a:cs typeface="Roboto Light"/>
                <a:sym typeface="Roboto Light"/>
              </a:endParaRPr>
            </a:p>
          </p:txBody>
        </p:sp>
      </p:grpSp>
      <p:grpSp>
        <p:nvGrpSpPr>
          <p:cNvPr id="225" name="Google Shape;225;p24"/>
          <p:cNvGrpSpPr/>
          <p:nvPr/>
        </p:nvGrpSpPr>
        <p:grpSpPr>
          <a:xfrm>
            <a:off x="-26" y="3357489"/>
            <a:ext cx="5714771" cy="1786168"/>
            <a:chOff x="1035039" y="3381375"/>
            <a:chExt cx="4953000" cy="1381200"/>
          </a:xfrm>
        </p:grpSpPr>
        <p:sp>
          <p:nvSpPr>
            <p:cNvPr id="226" name="Google Shape;226;p24"/>
            <p:cNvSpPr/>
            <p:nvPr/>
          </p:nvSpPr>
          <p:spPr>
            <a:xfrm>
              <a:off x="1035039" y="3381375"/>
              <a:ext cx="4953000" cy="1381200"/>
            </a:xfrm>
            <a:prstGeom prst="roundRect">
              <a:avLst>
                <a:gd fmla="val 2758"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62"/>
            </a:p>
          </p:txBody>
        </p:sp>
        <p:sp>
          <p:nvSpPr>
            <p:cNvPr id="227" name="Google Shape;227;p24"/>
            <p:cNvSpPr txBox="1"/>
            <p:nvPr/>
          </p:nvSpPr>
          <p:spPr>
            <a:xfrm>
              <a:off x="1225539" y="3476625"/>
              <a:ext cx="4572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1242">
                  <a:solidFill>
                    <a:srgbClr val="00E5FF"/>
                  </a:solidFill>
                  <a:latin typeface="Roboto Mono Medium"/>
                  <a:ea typeface="Roboto Mono Medium"/>
                  <a:cs typeface="Roboto Mono Medium"/>
                  <a:sym typeface="Roboto Mono Medium"/>
                </a:rPr>
                <a:t>ROOT CAUSE ANALYSIS</a:t>
              </a:r>
              <a:endParaRPr b="0" sz="1242">
                <a:solidFill>
                  <a:srgbClr val="00E5FF"/>
                </a:solidFill>
                <a:latin typeface="Roboto Mono Medium"/>
                <a:ea typeface="Roboto Mono Medium"/>
                <a:cs typeface="Roboto Mono Medium"/>
                <a:sym typeface="Roboto Mono Medium"/>
              </a:endParaRPr>
            </a:p>
          </p:txBody>
        </p:sp>
        <p:sp>
          <p:nvSpPr>
            <p:cNvPr id="228" name="Google Shape;228;p24"/>
            <p:cNvSpPr txBox="1"/>
            <p:nvPr/>
          </p:nvSpPr>
          <p:spPr>
            <a:xfrm>
              <a:off x="1225539" y="3762375"/>
              <a:ext cx="4572000" cy="9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vi" sz="1053">
                  <a:solidFill>
                    <a:srgbClr val="B0BEC5"/>
                  </a:solidFill>
                  <a:latin typeface="Roboto Light"/>
                  <a:ea typeface="Roboto Light"/>
                  <a:cs typeface="Roboto Light"/>
                  <a:sym typeface="Roboto Light"/>
                </a:rPr>
                <a:t>• </a:t>
              </a:r>
              <a:r>
                <a:rPr b="0" lang="vi" sz="1053">
                  <a:solidFill>
                    <a:srgbClr val="FFFFFF"/>
                  </a:solidFill>
                  <a:latin typeface="Roboto Medium"/>
                  <a:ea typeface="Roboto Medium"/>
                  <a:cs typeface="Roboto Medium"/>
                  <a:sym typeface="Roboto Medium"/>
                </a:rPr>
                <a:t>Sideway Volatility:</a:t>
              </a:r>
              <a:r>
                <a:rPr b="0" lang="vi" sz="1053">
                  <a:solidFill>
                    <a:srgbClr val="B0BEC5"/>
                  </a:solidFill>
                  <a:latin typeface="Roboto Light"/>
                  <a:ea typeface="Roboto Light"/>
                  <a:cs typeface="Roboto Light"/>
                  <a:sym typeface="Roboto Light"/>
                </a:rPr>
                <a:t> Post-COVID VN30 narrow range created ~17 signals/day, triggering over 8,400 whipsaw signals.</a:t>
              </a:r>
              <a:endParaRPr b="0" sz="1053">
                <a:solidFill>
                  <a:srgbClr val="B0BEC5"/>
                </a:solidFill>
                <a:latin typeface="Roboto Light"/>
                <a:ea typeface="Roboto Light"/>
                <a:cs typeface="Roboto Light"/>
                <a:sym typeface="Roboto Light"/>
              </a:endParaRPr>
            </a:p>
            <a:p>
              <a:pPr indent="0" lvl="0" marL="0" rtl="0" algn="l">
                <a:spcBef>
                  <a:spcPts val="577"/>
                </a:spcBef>
                <a:spcAft>
                  <a:spcPts val="0"/>
                </a:spcAft>
                <a:buNone/>
              </a:pPr>
              <a:r>
                <a:rPr b="0" lang="vi" sz="1053">
                  <a:solidFill>
                    <a:srgbClr val="B0BEC5"/>
                  </a:solidFill>
                  <a:latin typeface="Roboto Light"/>
                  <a:ea typeface="Roboto Light"/>
                  <a:cs typeface="Roboto Light"/>
                  <a:sym typeface="Roboto Light"/>
                </a:rPr>
                <a:t>• </a:t>
              </a:r>
              <a:r>
                <a:rPr b="0" lang="vi" sz="1053">
                  <a:solidFill>
                    <a:srgbClr val="FFFFFF"/>
                  </a:solidFill>
                  <a:latin typeface="Roboto Medium"/>
                  <a:ea typeface="Roboto Medium"/>
                  <a:cs typeface="Roboto Medium"/>
                  <a:sym typeface="Roboto Medium"/>
                </a:rPr>
                <a:t>Trend Failure:</a:t>
              </a:r>
              <a:r>
                <a:rPr b="0" lang="vi" sz="1053">
                  <a:solidFill>
                    <a:srgbClr val="B0BEC5"/>
                  </a:solidFill>
                  <a:latin typeface="Roboto Light"/>
                  <a:ea typeface="Roboto Light"/>
                  <a:cs typeface="Roboto Light"/>
                  <a:sym typeface="Roboto Light"/>
                </a:rPr>
                <a:t> Trend Following logic failed in a market without clear direction on the 1-min timeframe.</a:t>
              </a:r>
              <a:endParaRPr b="0" sz="1053">
                <a:solidFill>
                  <a:srgbClr val="B0BEC5"/>
                </a:solidFill>
                <a:latin typeface="Roboto Light"/>
                <a:ea typeface="Roboto Light"/>
                <a:cs typeface="Roboto Light"/>
                <a:sym typeface="Roboto Light"/>
              </a:endParaRPr>
            </a:p>
            <a:p>
              <a:pPr indent="0" lvl="0" marL="0" rtl="0" algn="l">
                <a:spcBef>
                  <a:spcPts val="577"/>
                </a:spcBef>
                <a:spcAft>
                  <a:spcPts val="0"/>
                </a:spcAft>
                <a:buNone/>
              </a:pPr>
              <a:r>
                <a:rPr b="0" lang="vi" sz="1053">
                  <a:solidFill>
                    <a:srgbClr val="B0BEC5"/>
                  </a:solidFill>
                  <a:latin typeface="Roboto Light"/>
                  <a:ea typeface="Roboto Light"/>
                  <a:cs typeface="Roboto Light"/>
                  <a:sym typeface="Roboto Light"/>
                </a:rPr>
                <a:t>• </a:t>
              </a:r>
              <a:r>
                <a:rPr b="0" lang="vi" sz="1053">
                  <a:solidFill>
                    <a:srgbClr val="FFFFFF"/>
                  </a:solidFill>
                  <a:latin typeface="Roboto Medium"/>
                  <a:ea typeface="Roboto Medium"/>
                  <a:cs typeface="Roboto Medium"/>
                  <a:sym typeface="Roboto Medium"/>
                </a:rPr>
                <a:t>Commission Erosion:</a:t>
              </a:r>
              <a:r>
                <a:rPr b="0" lang="vi" sz="1053">
                  <a:solidFill>
                    <a:srgbClr val="B0BEC5"/>
                  </a:solidFill>
                  <a:latin typeface="Roboto Light"/>
                  <a:ea typeface="Roboto Light"/>
                  <a:cs typeface="Roboto Light"/>
                  <a:sym typeface="Roboto Light"/>
                </a:rPr>
                <a:t> Thin profit edge was entirely consumed by massive transaction fees from high-frequency trading.</a:t>
              </a:r>
              <a:endParaRPr b="0" sz="1053">
                <a:solidFill>
                  <a:srgbClr val="B0BEC5"/>
                </a:solidFill>
                <a:latin typeface="Roboto Light"/>
                <a:ea typeface="Roboto Light"/>
                <a:cs typeface="Roboto Light"/>
                <a:sym typeface="Roboto Light"/>
              </a:endParaRPr>
            </a:p>
          </p:txBody>
        </p:sp>
      </p:grpSp>
      <p:pic>
        <p:nvPicPr>
          <p:cNvPr id="229" name="Google Shape;229;p24"/>
          <p:cNvPicPr preferRelativeResize="0"/>
          <p:nvPr/>
        </p:nvPicPr>
        <p:blipFill rotWithShape="1">
          <a:blip r:embed="rId3">
            <a:alphaModFix/>
          </a:blip>
          <a:srcRect b="30" l="0" r="0" t="30"/>
          <a:stretch/>
        </p:blipFill>
        <p:spPr>
          <a:xfrm>
            <a:off x="5715000" y="1263507"/>
            <a:ext cx="3238500" cy="1752600"/>
          </a:xfrm>
          <a:prstGeom prst="rect">
            <a:avLst/>
          </a:prstGeom>
          <a:noFill/>
          <a:ln>
            <a:noFill/>
          </a:ln>
        </p:spPr>
      </p:pic>
      <p:pic>
        <p:nvPicPr>
          <p:cNvPr id="230" name="Google Shape;230;p24"/>
          <p:cNvPicPr preferRelativeResize="0"/>
          <p:nvPr/>
        </p:nvPicPr>
        <p:blipFill>
          <a:blip r:embed="rId4">
            <a:alphaModFix/>
          </a:blip>
          <a:stretch>
            <a:fillRect/>
          </a:stretch>
        </p:blipFill>
        <p:spPr>
          <a:xfrm>
            <a:off x="5715000" y="3016102"/>
            <a:ext cx="3238502" cy="18904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 name="Shape 233"/>
        <p:cNvGrpSpPr/>
        <p:nvPr/>
      </p:nvGrpSpPr>
      <p:grpSpPr>
        <a:xfrm>
          <a:off x="0" y="0"/>
          <a:ext cx="0" cy="0"/>
          <a:chOff x="0" y="0"/>
          <a:chExt cx="0" cy="0"/>
        </a:xfrm>
      </p:grpSpPr>
      <p:sp>
        <p:nvSpPr>
          <p:cNvPr id="234" name="Google Shape;234;p25"/>
          <p:cNvSpPr txBox="1"/>
          <p:nvPr/>
        </p:nvSpPr>
        <p:spPr>
          <a:xfrm>
            <a:off x="306475" y="1778965"/>
            <a:ext cx="8761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vi" sz="4200">
                <a:solidFill>
                  <a:srgbClr val="00E5FF"/>
                </a:solidFill>
                <a:latin typeface="Montserrat"/>
                <a:ea typeface="Montserrat"/>
                <a:cs typeface="Montserrat"/>
                <a:sym typeface="Montserrat"/>
              </a:rPr>
              <a:t>4. Out-of-Sample Testing (2025)</a:t>
            </a:r>
            <a:endParaRPr b="1" sz="4200">
              <a:solidFill>
                <a:srgbClr val="00E5FF"/>
              </a:solidFill>
              <a:latin typeface="Montserrat"/>
              <a:ea typeface="Montserrat"/>
              <a:cs typeface="Montserrat"/>
              <a:sym typeface="Montserrat"/>
            </a:endParaRPr>
          </a:p>
          <a:p>
            <a:pPr indent="0" lvl="0" marL="0" rtl="0" algn="ctr">
              <a:spcBef>
                <a:spcPts val="0"/>
              </a:spcBef>
              <a:spcAft>
                <a:spcPts val="0"/>
              </a:spcAft>
              <a:buNone/>
            </a:pPr>
            <a:r>
              <a:t/>
            </a:r>
            <a:endParaRPr sz="4200">
              <a:solidFill>
                <a:srgbClr val="FFFFFF"/>
              </a:solidFill>
              <a:latin typeface="Montserrat ExtraBold"/>
              <a:ea typeface="Montserrat ExtraBold"/>
              <a:cs typeface="Montserrat ExtraBold"/>
              <a:sym typeface="Montserrat ExtraBold"/>
            </a:endParaRPr>
          </a:p>
        </p:txBody>
      </p:sp>
      <p:pic>
        <p:nvPicPr>
          <p:cNvPr id="235" name="Google Shape;235;p25"/>
          <p:cNvPicPr preferRelativeResize="0"/>
          <p:nvPr/>
        </p:nvPicPr>
        <p:blipFill rotWithShape="1">
          <a:blip r:embed="rId4">
            <a:alphaModFix/>
          </a:blip>
          <a:srcRect b="0" l="0" r="0" t="0"/>
          <a:stretch/>
        </p:blipFill>
        <p:spPr>
          <a:xfrm>
            <a:off x="306475" y="2984465"/>
            <a:ext cx="2286000" cy="28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238" name="Shape 238"/>
        <p:cNvGrpSpPr/>
        <p:nvPr/>
      </p:nvGrpSpPr>
      <p:grpSpPr>
        <a:xfrm>
          <a:off x="0" y="0"/>
          <a:ext cx="0" cy="0"/>
          <a:chOff x="0" y="0"/>
          <a:chExt cx="0" cy="0"/>
        </a:xfrm>
      </p:grpSpPr>
      <p:sp>
        <p:nvSpPr>
          <p:cNvPr id="239" name="Google Shape;239;p26"/>
          <p:cNvSpPr txBox="1"/>
          <p:nvPr/>
        </p:nvSpPr>
        <p:spPr>
          <a:xfrm>
            <a:off x="175425" y="122500"/>
            <a:ext cx="476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1400">
                <a:solidFill>
                  <a:srgbClr val="00E5FF"/>
                </a:solidFill>
                <a:latin typeface="Montserrat"/>
                <a:ea typeface="Montserrat"/>
                <a:cs typeface="Montserrat"/>
                <a:sym typeface="Montserrat"/>
              </a:rPr>
              <a:t>04. Out-of-Sample Testing (2025)</a:t>
            </a:r>
            <a:endParaRPr b="0" sz="1400">
              <a:solidFill>
                <a:srgbClr val="00E5FF"/>
              </a:solidFill>
              <a:latin typeface="Montserrat"/>
              <a:ea typeface="Montserrat"/>
              <a:cs typeface="Montserrat"/>
              <a:sym typeface="Montserrat"/>
            </a:endParaRPr>
          </a:p>
        </p:txBody>
      </p:sp>
      <p:sp>
        <p:nvSpPr>
          <p:cNvPr id="240" name="Google Shape;240;p26"/>
          <p:cNvSpPr txBox="1"/>
          <p:nvPr/>
        </p:nvSpPr>
        <p:spPr>
          <a:xfrm>
            <a:off x="175425" y="430450"/>
            <a:ext cx="5143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2400">
                <a:solidFill>
                  <a:srgbClr val="FFFFFF"/>
                </a:solidFill>
                <a:latin typeface="Montserrat ExtraBold"/>
                <a:ea typeface="Montserrat ExtraBold"/>
                <a:cs typeface="Montserrat ExtraBold"/>
                <a:sym typeface="Montserrat ExtraBold"/>
              </a:rPr>
              <a:t>The Return of the Trend</a:t>
            </a:r>
            <a:endParaRPr b="0" sz="2400">
              <a:solidFill>
                <a:srgbClr val="FFFFFF"/>
              </a:solidFill>
              <a:latin typeface="Montserrat ExtraBold"/>
              <a:ea typeface="Montserrat ExtraBold"/>
              <a:cs typeface="Montserrat ExtraBold"/>
              <a:sym typeface="Montserrat ExtraBold"/>
            </a:endParaRPr>
          </a:p>
        </p:txBody>
      </p:sp>
      <p:sp>
        <p:nvSpPr>
          <p:cNvPr id="241" name="Google Shape;241;p26"/>
          <p:cNvSpPr/>
          <p:nvPr/>
        </p:nvSpPr>
        <p:spPr>
          <a:xfrm>
            <a:off x="223825" y="1174541"/>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2" name="Google Shape;242;p26"/>
          <p:cNvGrpSpPr/>
          <p:nvPr/>
        </p:nvGrpSpPr>
        <p:grpSpPr>
          <a:xfrm>
            <a:off x="121923" y="1309976"/>
            <a:ext cx="3025292" cy="1937303"/>
            <a:chOff x="571500" y="1762125"/>
            <a:chExt cx="2476500" cy="1428900"/>
          </a:xfrm>
        </p:grpSpPr>
        <p:sp>
          <p:nvSpPr>
            <p:cNvPr id="243" name="Google Shape;243;p26"/>
            <p:cNvSpPr/>
            <p:nvPr/>
          </p:nvSpPr>
          <p:spPr>
            <a:xfrm>
              <a:off x="571500" y="1762125"/>
              <a:ext cx="2476500" cy="1428900"/>
            </a:xfrm>
            <a:prstGeom prst="roundRect">
              <a:avLst>
                <a:gd fmla="val 2666" name="adj"/>
              </a:avLst>
            </a:prstGeom>
            <a:solidFill>
              <a:srgbClr val="1A237E">
                <a:alpha val="20000"/>
              </a:srgbClr>
            </a:solidFill>
            <a:ln cap="flat" cmpd="sng" w="1162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999"/>
            </a:p>
          </p:txBody>
        </p:sp>
        <p:sp>
          <p:nvSpPr>
            <p:cNvPr id="244" name="Google Shape;244;p26"/>
            <p:cNvSpPr txBox="1"/>
            <p:nvPr/>
          </p:nvSpPr>
          <p:spPr>
            <a:xfrm>
              <a:off x="714375" y="1857375"/>
              <a:ext cx="2190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49">
                  <a:solidFill>
                    <a:srgbClr val="00E5FF"/>
                  </a:solidFill>
                  <a:latin typeface="Roboto Mono Medium"/>
                  <a:ea typeface="Roboto Mono Medium"/>
                  <a:cs typeface="Roboto Mono Medium"/>
                  <a:sym typeface="Roboto Mono Medium"/>
                </a:rPr>
                <a:t>2025 OUT-OF-SAMPLE STATS</a:t>
              </a:r>
              <a:endParaRPr b="0" sz="1449">
                <a:solidFill>
                  <a:srgbClr val="00E5FF"/>
                </a:solidFill>
                <a:latin typeface="Roboto Mono Medium"/>
                <a:ea typeface="Roboto Mono Medium"/>
                <a:cs typeface="Roboto Mono Medium"/>
                <a:sym typeface="Roboto Mono Medium"/>
              </a:endParaRPr>
            </a:p>
          </p:txBody>
        </p:sp>
        <p:sp>
          <p:nvSpPr>
            <p:cNvPr id="245" name="Google Shape;245;p26"/>
            <p:cNvSpPr txBox="1"/>
            <p:nvPr/>
          </p:nvSpPr>
          <p:spPr>
            <a:xfrm>
              <a:off x="714375" y="2143125"/>
              <a:ext cx="21909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vi" sz="1303">
                  <a:solidFill>
                    <a:srgbClr val="B0BEC5"/>
                  </a:solidFill>
                  <a:latin typeface="Roboto Light"/>
                  <a:ea typeface="Roboto Light"/>
                  <a:cs typeface="Roboto Light"/>
                  <a:sym typeface="Roboto Light"/>
                </a:rPr>
                <a:t>Total Trades: </a:t>
              </a:r>
              <a:r>
                <a:rPr b="1" lang="vi" sz="1535">
                  <a:solidFill>
                    <a:srgbClr val="FFFFFF"/>
                  </a:solidFill>
                  <a:latin typeface="Roboto Mono"/>
                  <a:ea typeface="Roboto Mono"/>
                  <a:cs typeface="Roboto Mono"/>
                  <a:sym typeface="Roboto Mono"/>
                </a:rPr>
                <a:t>3,895</a:t>
              </a:r>
              <a:endParaRPr b="0" sz="1303">
                <a:solidFill>
                  <a:srgbClr val="B0BEC5"/>
                </a:solidFill>
                <a:latin typeface="Roboto Light"/>
                <a:ea typeface="Roboto Light"/>
                <a:cs typeface="Roboto Light"/>
                <a:sym typeface="Roboto Light"/>
              </a:endParaRPr>
            </a:p>
            <a:p>
              <a:pPr indent="0" lvl="0" marL="0" rtl="0" algn="l">
                <a:spcBef>
                  <a:spcPts val="366"/>
                </a:spcBef>
                <a:spcAft>
                  <a:spcPts val="0"/>
                </a:spcAft>
                <a:buNone/>
              </a:pPr>
              <a:r>
                <a:rPr b="0" lang="vi" sz="1193">
                  <a:solidFill>
                    <a:srgbClr val="B0BEC5"/>
                  </a:solidFill>
                  <a:latin typeface="Roboto Light"/>
                  <a:ea typeface="Roboto Light"/>
                  <a:cs typeface="Roboto Light"/>
                  <a:sym typeface="Roboto Light"/>
                </a:rPr>
                <a:t>(Long: 2,107 | Short: 1,788)</a:t>
              </a:r>
              <a:endParaRPr b="0" sz="1193">
                <a:solidFill>
                  <a:srgbClr val="B0BEC5"/>
                </a:solidFill>
                <a:latin typeface="Roboto Light"/>
                <a:ea typeface="Roboto Light"/>
                <a:cs typeface="Roboto Light"/>
                <a:sym typeface="Roboto Light"/>
              </a:endParaRPr>
            </a:p>
            <a:p>
              <a:pPr indent="0" lvl="0" marL="0" rtl="0" algn="l">
                <a:spcBef>
                  <a:spcPts val="366"/>
                </a:spcBef>
                <a:spcAft>
                  <a:spcPts val="0"/>
                </a:spcAft>
                <a:buNone/>
              </a:pPr>
              <a:r>
                <a:rPr b="0" lang="vi" sz="1303">
                  <a:solidFill>
                    <a:srgbClr val="B0BEC5"/>
                  </a:solidFill>
                  <a:latin typeface="Roboto Light"/>
                  <a:ea typeface="Roboto Light"/>
                  <a:cs typeface="Roboto Light"/>
                  <a:sym typeface="Roboto Light"/>
                </a:rPr>
                <a:t>Profit Factor: </a:t>
              </a:r>
              <a:r>
                <a:rPr b="1" lang="vi" sz="1535">
                  <a:solidFill>
                    <a:srgbClr val="FFFFFF"/>
                  </a:solidFill>
                  <a:latin typeface="Roboto Mono"/>
                  <a:ea typeface="Roboto Mono"/>
                  <a:cs typeface="Roboto Mono"/>
                  <a:sym typeface="Roboto Mono"/>
                </a:rPr>
                <a:t>0.888</a:t>
              </a:r>
              <a:endParaRPr b="0" sz="1303">
                <a:solidFill>
                  <a:srgbClr val="B0BEC5"/>
                </a:solidFill>
                <a:latin typeface="Roboto Light"/>
                <a:ea typeface="Roboto Light"/>
                <a:cs typeface="Roboto Light"/>
                <a:sym typeface="Roboto Light"/>
              </a:endParaRPr>
            </a:p>
            <a:p>
              <a:pPr indent="0" lvl="0" marL="0" rtl="0" algn="l">
                <a:spcBef>
                  <a:spcPts val="366"/>
                </a:spcBef>
                <a:spcAft>
                  <a:spcPts val="0"/>
                </a:spcAft>
                <a:buNone/>
              </a:pPr>
              <a:r>
                <a:rPr b="0" lang="vi" sz="1303">
                  <a:solidFill>
                    <a:srgbClr val="B0BEC5"/>
                  </a:solidFill>
                  <a:latin typeface="Roboto Light"/>
                  <a:ea typeface="Roboto Light"/>
                  <a:cs typeface="Roboto Light"/>
                  <a:sym typeface="Roboto Light"/>
                </a:rPr>
                <a:t>Avg Hold Time: </a:t>
              </a:r>
              <a:r>
                <a:rPr b="1" lang="vi" sz="1535">
                  <a:solidFill>
                    <a:srgbClr val="FFFFFF"/>
                  </a:solidFill>
                  <a:latin typeface="Roboto Mono"/>
                  <a:ea typeface="Roboto Mono"/>
                  <a:cs typeface="Roboto Mono"/>
                  <a:sym typeface="Roboto Mono"/>
                </a:rPr>
                <a:t>15 min</a:t>
              </a:r>
              <a:endParaRPr b="0" sz="1303">
                <a:solidFill>
                  <a:srgbClr val="B0BEC5"/>
                </a:solidFill>
                <a:latin typeface="Roboto Light"/>
                <a:ea typeface="Roboto Light"/>
                <a:cs typeface="Roboto Light"/>
                <a:sym typeface="Roboto Light"/>
              </a:endParaRPr>
            </a:p>
            <a:p>
              <a:pPr indent="0" lvl="0" marL="0" rtl="0" algn="l">
                <a:spcBef>
                  <a:spcPts val="366"/>
                </a:spcBef>
                <a:spcAft>
                  <a:spcPts val="366"/>
                </a:spcAft>
                <a:buNone/>
              </a:pPr>
              <a:r>
                <a:rPr b="0" lang="vi" sz="1303">
                  <a:solidFill>
                    <a:srgbClr val="B0BEC5"/>
                  </a:solidFill>
                  <a:latin typeface="Roboto Light"/>
                  <a:ea typeface="Roboto Light"/>
                  <a:cs typeface="Roboto Light"/>
                  <a:sym typeface="Roboto Light"/>
                </a:rPr>
                <a:t>Max Win: </a:t>
              </a:r>
              <a:r>
                <a:rPr b="1" lang="vi" sz="1535">
                  <a:solidFill>
                    <a:srgbClr val="FFFFFF"/>
                  </a:solidFill>
                  <a:latin typeface="Roboto Mono"/>
                  <a:ea typeface="Roboto Mono"/>
                  <a:cs typeface="Roboto Mono"/>
                  <a:sym typeface="Roboto Mono"/>
                </a:rPr>
                <a:t>6.57M / trade</a:t>
              </a:r>
              <a:endParaRPr b="0" sz="1303">
                <a:solidFill>
                  <a:srgbClr val="B0BEC5"/>
                </a:solidFill>
                <a:latin typeface="Roboto Light"/>
                <a:ea typeface="Roboto Light"/>
                <a:cs typeface="Roboto Light"/>
                <a:sym typeface="Roboto Light"/>
              </a:endParaRPr>
            </a:p>
          </p:txBody>
        </p:sp>
      </p:grpSp>
      <p:grpSp>
        <p:nvGrpSpPr>
          <p:cNvPr id="246" name="Google Shape;246;p26"/>
          <p:cNvGrpSpPr/>
          <p:nvPr/>
        </p:nvGrpSpPr>
        <p:grpSpPr>
          <a:xfrm>
            <a:off x="3335350" y="1310075"/>
            <a:ext cx="2617859" cy="1745544"/>
            <a:chOff x="3238500" y="1762116"/>
            <a:chExt cx="2142975" cy="1428900"/>
          </a:xfrm>
        </p:grpSpPr>
        <p:sp>
          <p:nvSpPr>
            <p:cNvPr id="247" name="Google Shape;247;p26"/>
            <p:cNvSpPr/>
            <p:nvPr/>
          </p:nvSpPr>
          <p:spPr>
            <a:xfrm>
              <a:off x="3238500" y="1762116"/>
              <a:ext cx="1966800" cy="1428900"/>
            </a:xfrm>
            <a:prstGeom prst="roundRect">
              <a:avLst>
                <a:gd fmla="val 2666" name="adj"/>
              </a:avLst>
            </a:prstGeom>
            <a:solidFill>
              <a:srgbClr val="1A237E">
                <a:alpha val="20000"/>
              </a:srgbClr>
            </a:solidFill>
            <a:ln cap="flat" cmpd="sng" w="1162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999"/>
            </a:p>
          </p:txBody>
        </p:sp>
        <p:sp>
          <p:nvSpPr>
            <p:cNvPr id="248" name="Google Shape;248;p26"/>
            <p:cNvSpPr txBox="1"/>
            <p:nvPr/>
          </p:nvSpPr>
          <p:spPr>
            <a:xfrm>
              <a:off x="3381375" y="1857375"/>
              <a:ext cx="20001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49">
                  <a:solidFill>
                    <a:srgbClr val="00E5FF"/>
                  </a:solidFill>
                  <a:latin typeface="Roboto Mono Medium"/>
                  <a:ea typeface="Roboto Mono Medium"/>
                  <a:cs typeface="Roboto Mono Medium"/>
                  <a:sym typeface="Roboto Mono Medium"/>
                </a:rPr>
                <a:t>NET PERFORMANCE</a:t>
              </a:r>
              <a:endParaRPr b="0" sz="1449">
                <a:solidFill>
                  <a:srgbClr val="00E5FF"/>
                </a:solidFill>
                <a:latin typeface="Roboto Mono Medium"/>
                <a:ea typeface="Roboto Mono Medium"/>
                <a:cs typeface="Roboto Mono Medium"/>
                <a:sym typeface="Roboto Mono Medium"/>
              </a:endParaRPr>
            </a:p>
          </p:txBody>
        </p:sp>
        <p:sp>
          <p:nvSpPr>
            <p:cNvPr id="249" name="Google Shape;249;p26"/>
            <p:cNvSpPr txBox="1"/>
            <p:nvPr/>
          </p:nvSpPr>
          <p:spPr>
            <a:xfrm>
              <a:off x="3381375" y="2143125"/>
              <a:ext cx="20001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vi" sz="2487">
                  <a:solidFill>
                    <a:srgbClr val="FF5252"/>
                  </a:solidFill>
                  <a:latin typeface="Roboto"/>
                  <a:ea typeface="Roboto"/>
                  <a:cs typeface="Roboto"/>
                  <a:sym typeface="Roboto"/>
                </a:rPr>
                <a:t>-40.60%</a:t>
              </a:r>
              <a:endParaRPr b="1" sz="2487">
                <a:solidFill>
                  <a:srgbClr val="FF5252"/>
                </a:solidFill>
                <a:latin typeface="Roboto"/>
                <a:ea typeface="Roboto"/>
                <a:cs typeface="Roboto"/>
                <a:sym typeface="Roboto"/>
              </a:endParaRPr>
            </a:p>
            <a:p>
              <a:pPr indent="0" lvl="0" marL="0" rtl="0" algn="ctr">
                <a:spcBef>
                  <a:spcPts val="489"/>
                </a:spcBef>
                <a:spcAft>
                  <a:spcPts val="0"/>
                </a:spcAft>
                <a:buNone/>
              </a:pPr>
              <a:r>
                <a:rPr b="0" lang="vi" sz="1303">
                  <a:solidFill>
                    <a:srgbClr val="B0BEC5"/>
                  </a:solidFill>
                  <a:latin typeface="Roboto Light"/>
                  <a:ea typeface="Roboto Light"/>
                  <a:cs typeface="Roboto Light"/>
                  <a:sym typeface="Roboto Light"/>
                </a:rPr>
                <a:t>Total Return (Incl. Fees)</a:t>
              </a:r>
              <a:endParaRPr b="0" sz="1303">
                <a:solidFill>
                  <a:srgbClr val="B0BEC5"/>
                </a:solidFill>
                <a:latin typeface="Roboto Light"/>
                <a:ea typeface="Roboto Light"/>
                <a:cs typeface="Roboto Light"/>
                <a:sym typeface="Roboto Light"/>
              </a:endParaRPr>
            </a:p>
            <a:p>
              <a:pPr indent="0" lvl="0" marL="0" rtl="0" algn="ctr">
                <a:spcBef>
                  <a:spcPts val="244"/>
                </a:spcBef>
                <a:spcAft>
                  <a:spcPts val="0"/>
                </a:spcAft>
                <a:buNone/>
              </a:pPr>
              <a:r>
                <a:rPr b="0" lang="vi" sz="1205">
                  <a:solidFill>
                    <a:srgbClr val="FF5252"/>
                  </a:solidFill>
                  <a:latin typeface="Roboto Medium"/>
                  <a:ea typeface="Roboto Medium"/>
                  <a:cs typeface="Roboto Medium"/>
                  <a:sym typeface="Roboto Medium"/>
                </a:rPr>
                <a:t>Net PnL: -66.7M VNĐ</a:t>
              </a:r>
              <a:endParaRPr b="0" sz="1205">
                <a:solidFill>
                  <a:srgbClr val="FF5252"/>
                </a:solidFill>
                <a:latin typeface="Roboto Medium"/>
                <a:ea typeface="Roboto Medium"/>
                <a:cs typeface="Roboto Medium"/>
                <a:sym typeface="Roboto Medium"/>
              </a:endParaRPr>
            </a:p>
          </p:txBody>
        </p:sp>
      </p:grpSp>
      <p:grpSp>
        <p:nvGrpSpPr>
          <p:cNvPr id="250" name="Google Shape;250;p26"/>
          <p:cNvGrpSpPr/>
          <p:nvPr/>
        </p:nvGrpSpPr>
        <p:grpSpPr>
          <a:xfrm>
            <a:off x="121926" y="3294100"/>
            <a:ext cx="5474056" cy="1745561"/>
            <a:chOff x="571500" y="3381375"/>
            <a:chExt cx="4953000" cy="1381200"/>
          </a:xfrm>
        </p:grpSpPr>
        <p:sp>
          <p:nvSpPr>
            <p:cNvPr id="251" name="Google Shape;251;p26"/>
            <p:cNvSpPr/>
            <p:nvPr/>
          </p:nvSpPr>
          <p:spPr>
            <a:xfrm>
              <a:off x="571500" y="3381375"/>
              <a:ext cx="4953000" cy="1381200"/>
            </a:xfrm>
            <a:prstGeom prst="roundRect">
              <a:avLst>
                <a:gd fmla="val 2758"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89"/>
            </a:p>
          </p:txBody>
        </p:sp>
        <p:sp>
          <p:nvSpPr>
            <p:cNvPr id="252" name="Google Shape;252;p26"/>
            <p:cNvSpPr txBox="1"/>
            <p:nvPr/>
          </p:nvSpPr>
          <p:spPr>
            <a:xfrm>
              <a:off x="762000" y="3476625"/>
              <a:ext cx="457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392">
                  <a:solidFill>
                    <a:srgbClr val="00E5FF"/>
                  </a:solidFill>
                  <a:latin typeface="Roboto Mono Medium"/>
                  <a:ea typeface="Roboto Mono Medium"/>
                  <a:cs typeface="Roboto Mono Medium"/>
                  <a:sym typeface="Roboto Mono Medium"/>
                </a:rPr>
                <a:t>STRATEGIC PERFORMANCE INSIGHTS</a:t>
              </a:r>
              <a:endParaRPr b="0" sz="1392">
                <a:solidFill>
                  <a:srgbClr val="00E5FF"/>
                </a:solidFill>
                <a:latin typeface="Roboto Mono Medium"/>
                <a:ea typeface="Roboto Mono Medium"/>
                <a:cs typeface="Roboto Mono Medium"/>
                <a:sym typeface="Roboto Mono Medium"/>
              </a:endParaRPr>
            </a:p>
          </p:txBody>
        </p:sp>
        <p:sp>
          <p:nvSpPr>
            <p:cNvPr id="253" name="Google Shape;253;p26"/>
            <p:cNvSpPr txBox="1"/>
            <p:nvPr/>
          </p:nvSpPr>
          <p:spPr>
            <a:xfrm>
              <a:off x="762000" y="3762375"/>
              <a:ext cx="4572000" cy="9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vi" sz="1191">
                  <a:solidFill>
                    <a:srgbClr val="B0BEC5"/>
                  </a:solidFill>
                  <a:latin typeface="Roboto Light"/>
                  <a:ea typeface="Roboto Light"/>
                  <a:cs typeface="Roboto Light"/>
                  <a:sym typeface="Roboto Light"/>
                </a:rPr>
                <a:t>• </a:t>
              </a:r>
              <a:r>
                <a:rPr b="0" lang="vi" sz="1191">
                  <a:solidFill>
                    <a:srgbClr val="FFFFFF"/>
                  </a:solidFill>
                  <a:latin typeface="Roboto Medium"/>
                  <a:ea typeface="Roboto Medium"/>
                  <a:cs typeface="Roboto Medium"/>
                  <a:sym typeface="Roboto Medium"/>
                </a:rPr>
                <a:t>Trend Capture:</a:t>
              </a:r>
              <a:r>
                <a:rPr b="0" lang="vi" sz="1191">
                  <a:solidFill>
                    <a:srgbClr val="B0BEC5"/>
                  </a:solidFill>
                  <a:latin typeface="Roboto Light"/>
                  <a:ea typeface="Roboto Light"/>
                  <a:cs typeface="Roboto Light"/>
                  <a:sym typeface="Roboto Light"/>
                </a:rPr>
                <a:t> Algorithm successfully "scented" the VN30 rally to 2,000 pts with dominating Long signals.</a:t>
              </a:r>
              <a:endParaRPr b="0" sz="1191">
                <a:solidFill>
                  <a:srgbClr val="B0BEC5"/>
                </a:solidFill>
                <a:latin typeface="Roboto Light"/>
                <a:ea typeface="Roboto Light"/>
                <a:cs typeface="Roboto Light"/>
                <a:sym typeface="Roboto Light"/>
              </a:endParaRPr>
            </a:p>
            <a:p>
              <a:pPr indent="0" lvl="0" marL="0" rtl="0" algn="l">
                <a:spcBef>
                  <a:spcPts val="442"/>
                </a:spcBef>
                <a:spcAft>
                  <a:spcPts val="0"/>
                </a:spcAft>
                <a:buNone/>
              </a:pPr>
              <a:r>
                <a:rPr b="0" lang="vi" sz="1191">
                  <a:solidFill>
                    <a:srgbClr val="B0BEC5"/>
                  </a:solidFill>
                  <a:latin typeface="Roboto Light"/>
                  <a:ea typeface="Roboto Light"/>
                  <a:cs typeface="Roboto Light"/>
                  <a:sym typeface="Roboto Light"/>
                </a:rPr>
                <a:t>• </a:t>
              </a:r>
              <a:r>
                <a:rPr b="0" lang="vi" sz="1191">
                  <a:solidFill>
                    <a:srgbClr val="FFFFFF"/>
                  </a:solidFill>
                  <a:latin typeface="Roboto Medium"/>
                  <a:ea typeface="Roboto Medium"/>
                  <a:cs typeface="Roboto Medium"/>
                  <a:sym typeface="Roboto Medium"/>
                </a:rPr>
                <a:t>Improved Quality:</a:t>
              </a:r>
              <a:r>
                <a:rPr b="0" lang="vi" sz="1191">
                  <a:solidFill>
                    <a:srgbClr val="B0BEC5"/>
                  </a:solidFill>
                  <a:latin typeface="Roboto Light"/>
                  <a:ea typeface="Roboto Light"/>
                  <a:cs typeface="Roboto Light"/>
                  <a:sym typeface="Roboto Light"/>
                </a:rPr>
                <a:t> Avg profit per win doubled to ~352k; system captured 6.5M+ waves with longer hold times.</a:t>
              </a:r>
              <a:endParaRPr b="0" sz="1191">
                <a:solidFill>
                  <a:srgbClr val="B0BEC5"/>
                </a:solidFill>
                <a:latin typeface="Roboto Light"/>
                <a:ea typeface="Roboto Light"/>
                <a:cs typeface="Roboto Light"/>
                <a:sym typeface="Roboto Light"/>
              </a:endParaRPr>
            </a:p>
            <a:p>
              <a:pPr indent="0" lvl="0" marL="0" rtl="0" algn="l">
                <a:spcBef>
                  <a:spcPts val="442"/>
                </a:spcBef>
                <a:spcAft>
                  <a:spcPts val="442"/>
                </a:spcAft>
                <a:buNone/>
              </a:pPr>
              <a:r>
                <a:rPr b="0" lang="vi" sz="1191">
                  <a:solidFill>
                    <a:srgbClr val="B0BEC5"/>
                  </a:solidFill>
                  <a:latin typeface="Roboto Light"/>
                  <a:ea typeface="Roboto Light"/>
                  <a:cs typeface="Roboto Light"/>
                  <a:sym typeface="Roboto Light"/>
                </a:rPr>
                <a:t>• </a:t>
              </a:r>
              <a:r>
                <a:rPr b="0" lang="vi" sz="1191">
                  <a:solidFill>
                    <a:srgbClr val="FFFFFF"/>
                  </a:solidFill>
                  <a:latin typeface="Roboto Medium"/>
                  <a:ea typeface="Roboto Medium"/>
                  <a:cs typeface="Roboto Medium"/>
                  <a:sym typeface="Roboto Medium"/>
                </a:rPr>
                <a:t>Commission Burden:</a:t>
              </a:r>
              <a:r>
                <a:rPr b="0" lang="vi" sz="1191">
                  <a:solidFill>
                    <a:srgbClr val="B0BEC5"/>
                  </a:solidFill>
                  <a:latin typeface="Roboto Light"/>
                  <a:ea typeface="Roboto Light"/>
                  <a:cs typeface="Roboto Light"/>
                  <a:sym typeface="Roboto Light"/>
                </a:rPr>
                <a:t> Strategy is directionally accurate but weighed down by 136M VNĐ in 1-min transaction fees.</a:t>
              </a:r>
              <a:endParaRPr b="0" sz="1191">
                <a:solidFill>
                  <a:srgbClr val="B0BEC5"/>
                </a:solidFill>
                <a:latin typeface="Roboto Light"/>
                <a:ea typeface="Roboto Light"/>
                <a:cs typeface="Roboto Light"/>
                <a:sym typeface="Roboto Light"/>
              </a:endParaRPr>
            </a:p>
          </p:txBody>
        </p:sp>
      </p:grpSp>
      <p:pic>
        <p:nvPicPr>
          <p:cNvPr id="254" name="Google Shape;254;p26"/>
          <p:cNvPicPr preferRelativeResize="0"/>
          <p:nvPr/>
        </p:nvPicPr>
        <p:blipFill>
          <a:blip r:embed="rId3">
            <a:alphaModFix/>
          </a:blip>
          <a:stretch>
            <a:fillRect/>
          </a:stretch>
        </p:blipFill>
        <p:spPr>
          <a:xfrm>
            <a:off x="5804142" y="548925"/>
            <a:ext cx="3314699" cy="1810691"/>
          </a:xfrm>
          <a:prstGeom prst="rect">
            <a:avLst/>
          </a:prstGeom>
          <a:noFill/>
          <a:ln>
            <a:noFill/>
          </a:ln>
        </p:spPr>
      </p:pic>
      <p:pic>
        <p:nvPicPr>
          <p:cNvPr id="255" name="Google Shape;255;p26"/>
          <p:cNvPicPr preferRelativeResize="0"/>
          <p:nvPr/>
        </p:nvPicPr>
        <p:blipFill>
          <a:blip r:embed="rId4">
            <a:alphaModFix/>
          </a:blip>
          <a:stretch>
            <a:fillRect/>
          </a:stretch>
        </p:blipFill>
        <p:spPr>
          <a:xfrm>
            <a:off x="5804142" y="2359614"/>
            <a:ext cx="3314698" cy="225768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sp>
        <p:nvSpPr>
          <p:cNvPr id="259" name="Google Shape;259;p27"/>
          <p:cNvSpPr txBox="1"/>
          <p:nvPr/>
        </p:nvSpPr>
        <p:spPr>
          <a:xfrm>
            <a:off x="306475" y="1778965"/>
            <a:ext cx="8761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4200">
                <a:solidFill>
                  <a:srgbClr val="00E5FF"/>
                </a:solidFill>
                <a:latin typeface="Montserrat"/>
                <a:ea typeface="Montserrat"/>
                <a:cs typeface="Montserrat"/>
                <a:sym typeface="Montserrat"/>
              </a:rPr>
              <a:t>5. Paper Trading Execution</a:t>
            </a:r>
            <a:endParaRPr sz="4200">
              <a:solidFill>
                <a:srgbClr val="FFFFFF"/>
              </a:solidFill>
              <a:latin typeface="Montserrat ExtraBold"/>
              <a:ea typeface="Montserrat ExtraBold"/>
              <a:cs typeface="Montserrat ExtraBold"/>
              <a:sym typeface="Montserrat ExtraBold"/>
            </a:endParaRPr>
          </a:p>
        </p:txBody>
      </p:sp>
      <p:pic>
        <p:nvPicPr>
          <p:cNvPr id="260" name="Google Shape;260;p27"/>
          <p:cNvPicPr preferRelativeResize="0"/>
          <p:nvPr/>
        </p:nvPicPr>
        <p:blipFill rotWithShape="1">
          <a:blip r:embed="rId4">
            <a:alphaModFix/>
          </a:blip>
          <a:srcRect b="0" l="0" r="0" t="0"/>
          <a:stretch/>
        </p:blipFill>
        <p:spPr>
          <a:xfrm>
            <a:off x="306475" y="2984465"/>
            <a:ext cx="2286000" cy="28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263" name="Shape 263"/>
        <p:cNvGrpSpPr/>
        <p:nvPr/>
      </p:nvGrpSpPr>
      <p:grpSpPr>
        <a:xfrm>
          <a:off x="0" y="0"/>
          <a:ext cx="0" cy="0"/>
          <a:chOff x="0" y="0"/>
          <a:chExt cx="0" cy="0"/>
        </a:xfrm>
      </p:grpSpPr>
      <p:sp>
        <p:nvSpPr>
          <p:cNvPr id="264" name="Google Shape;264;p28"/>
          <p:cNvSpPr txBox="1"/>
          <p:nvPr/>
        </p:nvSpPr>
        <p:spPr>
          <a:xfrm>
            <a:off x="571500" y="381000"/>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00">
                <a:solidFill>
                  <a:srgbClr val="00E5FF"/>
                </a:solidFill>
                <a:latin typeface="Montserrat"/>
                <a:ea typeface="Montserrat"/>
                <a:cs typeface="Montserrat"/>
                <a:sym typeface="Montserrat"/>
              </a:rPr>
              <a:t>05. Paper Trading Execution</a:t>
            </a:r>
            <a:endParaRPr b="0" sz="1400">
              <a:solidFill>
                <a:srgbClr val="00E5FF"/>
              </a:solidFill>
              <a:latin typeface="Montserrat"/>
              <a:ea typeface="Montserrat"/>
              <a:cs typeface="Montserrat"/>
              <a:sym typeface="Montserrat"/>
            </a:endParaRPr>
          </a:p>
        </p:txBody>
      </p:sp>
      <p:sp>
        <p:nvSpPr>
          <p:cNvPr id="265" name="Google Shape;265;p28"/>
          <p:cNvSpPr txBox="1"/>
          <p:nvPr/>
        </p:nvSpPr>
        <p:spPr>
          <a:xfrm>
            <a:off x="571500" y="762000"/>
            <a:ext cx="5143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400">
                <a:solidFill>
                  <a:srgbClr val="FFFFFF"/>
                </a:solidFill>
                <a:latin typeface="Montserrat ExtraBold"/>
                <a:ea typeface="Montserrat ExtraBold"/>
                <a:cs typeface="Montserrat ExtraBold"/>
                <a:sym typeface="Montserrat ExtraBold"/>
              </a:rPr>
              <a:t>Live Stress Test: The Process Victory</a:t>
            </a:r>
            <a:endParaRPr b="0" sz="2400">
              <a:solidFill>
                <a:srgbClr val="FFFFFF"/>
              </a:solidFill>
              <a:latin typeface="Montserrat ExtraBold"/>
              <a:ea typeface="Montserrat ExtraBold"/>
              <a:cs typeface="Montserrat ExtraBold"/>
              <a:sym typeface="Montserrat ExtraBold"/>
            </a:endParaRPr>
          </a:p>
        </p:txBody>
      </p:sp>
      <p:sp>
        <p:nvSpPr>
          <p:cNvPr id="266" name="Google Shape;266;p28"/>
          <p:cNvSpPr/>
          <p:nvPr/>
        </p:nvSpPr>
        <p:spPr>
          <a:xfrm>
            <a:off x="571500" y="1571625"/>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7" name="Google Shape;267;p28"/>
          <p:cNvGrpSpPr/>
          <p:nvPr/>
        </p:nvGrpSpPr>
        <p:grpSpPr>
          <a:xfrm>
            <a:off x="127775" y="1647750"/>
            <a:ext cx="2792749" cy="1611371"/>
            <a:chOff x="0" y="0"/>
            <a:chExt cx="2476500" cy="1428900"/>
          </a:xfrm>
        </p:grpSpPr>
        <p:sp>
          <p:nvSpPr>
            <p:cNvPr id="268" name="Google Shape;268;p28"/>
            <p:cNvSpPr/>
            <p:nvPr/>
          </p:nvSpPr>
          <p:spPr>
            <a:xfrm>
              <a:off x="0" y="0"/>
              <a:ext cx="2476500" cy="1428900"/>
            </a:xfrm>
            <a:prstGeom prst="roundRect">
              <a:avLst>
                <a:gd fmla="val 2666" name="adj"/>
              </a:avLst>
            </a:prstGeom>
            <a:solidFill>
              <a:srgbClr val="1A237E">
                <a:alpha val="20000"/>
              </a:srgbClr>
            </a:solidFill>
            <a:ln cap="flat" cmpd="sng" w="107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4"/>
            </a:p>
          </p:txBody>
        </p:sp>
        <p:sp>
          <p:nvSpPr>
            <p:cNvPr id="269" name="Google Shape;269;p28"/>
            <p:cNvSpPr txBox="1"/>
            <p:nvPr/>
          </p:nvSpPr>
          <p:spPr>
            <a:xfrm>
              <a:off x="142875" y="95250"/>
              <a:ext cx="2190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97">
                  <a:solidFill>
                    <a:srgbClr val="00E5FF"/>
                  </a:solidFill>
                  <a:latin typeface="Roboto Mono Medium"/>
                  <a:ea typeface="Roboto Mono Medium"/>
                  <a:cs typeface="Roboto Mono Medium"/>
                  <a:sym typeface="Roboto Mono Medium"/>
                </a:rPr>
                <a:t>ARENA26 LIVE METRICS</a:t>
              </a:r>
              <a:endParaRPr b="0" sz="1297">
                <a:solidFill>
                  <a:srgbClr val="00E5FF"/>
                </a:solidFill>
                <a:latin typeface="Roboto Mono Medium"/>
                <a:ea typeface="Roboto Mono Medium"/>
                <a:cs typeface="Roboto Mono Medium"/>
                <a:sym typeface="Roboto Mono Medium"/>
              </a:endParaRPr>
            </a:p>
          </p:txBody>
        </p:sp>
        <p:sp>
          <p:nvSpPr>
            <p:cNvPr id="270" name="Google Shape;270;p28"/>
            <p:cNvSpPr txBox="1"/>
            <p:nvPr/>
          </p:nvSpPr>
          <p:spPr>
            <a:xfrm>
              <a:off x="142875" y="381000"/>
              <a:ext cx="21909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112">
                  <a:solidFill>
                    <a:srgbClr val="B0BEC5"/>
                  </a:solidFill>
                  <a:latin typeface="Roboto Light"/>
                  <a:ea typeface="Roboto Light"/>
                  <a:cs typeface="Roboto Light"/>
                  <a:sym typeface="Roboto Light"/>
                </a:rPr>
                <a:t>Initial Capital: </a:t>
              </a:r>
              <a:r>
                <a:rPr b="1" lang="vi" sz="1321">
                  <a:solidFill>
                    <a:srgbClr val="FFFFFF"/>
                  </a:solidFill>
                  <a:latin typeface="Roboto Mono"/>
                  <a:ea typeface="Roboto Mono"/>
                  <a:cs typeface="Roboto Mono"/>
                  <a:sym typeface="Roboto Mono"/>
                </a:rPr>
                <a:t>500,000,000 VNĐ</a:t>
              </a:r>
              <a:endParaRPr b="0" sz="1112">
                <a:solidFill>
                  <a:srgbClr val="B0BEC5"/>
                </a:solidFill>
                <a:latin typeface="Roboto Light"/>
                <a:ea typeface="Roboto Light"/>
                <a:cs typeface="Roboto Light"/>
                <a:sym typeface="Roboto Light"/>
              </a:endParaRPr>
            </a:p>
            <a:p>
              <a:pPr indent="0" lvl="0" marL="0" rtl="0" algn="l">
                <a:spcBef>
                  <a:spcPts val="451"/>
                </a:spcBef>
                <a:spcAft>
                  <a:spcPts val="0"/>
                </a:spcAft>
                <a:buNone/>
              </a:pPr>
              <a:r>
                <a:rPr b="0" lang="vi" sz="1112">
                  <a:solidFill>
                    <a:srgbClr val="B0BEC5"/>
                  </a:solidFill>
                  <a:latin typeface="Roboto Light"/>
                  <a:ea typeface="Roboto Light"/>
                  <a:cs typeface="Roboto Light"/>
                  <a:sym typeface="Roboto Light"/>
                </a:rPr>
                <a:t>End Balance: </a:t>
              </a:r>
              <a:r>
                <a:rPr b="1" lang="vi" sz="1321">
                  <a:solidFill>
                    <a:srgbClr val="FF5252"/>
                  </a:solidFill>
                  <a:latin typeface="Roboto Mono"/>
                  <a:ea typeface="Roboto Mono"/>
                  <a:cs typeface="Roboto Mono"/>
                  <a:sym typeface="Roboto Mono"/>
                </a:rPr>
                <a:t>472,210,000 VNĐ</a:t>
              </a:r>
              <a:endParaRPr b="0" sz="1112">
                <a:solidFill>
                  <a:srgbClr val="B0BEC5"/>
                </a:solidFill>
                <a:latin typeface="Roboto Light"/>
                <a:ea typeface="Roboto Light"/>
                <a:cs typeface="Roboto Light"/>
                <a:sym typeface="Roboto Light"/>
              </a:endParaRPr>
            </a:p>
            <a:p>
              <a:pPr indent="0" lvl="0" marL="0" rtl="0" algn="l">
                <a:spcBef>
                  <a:spcPts val="451"/>
                </a:spcBef>
                <a:spcAft>
                  <a:spcPts val="0"/>
                </a:spcAft>
                <a:buNone/>
              </a:pPr>
              <a:r>
                <a:rPr b="0" lang="vi" sz="1112">
                  <a:solidFill>
                    <a:srgbClr val="B0BEC5"/>
                  </a:solidFill>
                  <a:latin typeface="Roboto Light"/>
                  <a:ea typeface="Roboto Light"/>
                  <a:cs typeface="Roboto Light"/>
                  <a:sym typeface="Roboto Light"/>
                </a:rPr>
                <a:t>Return: </a:t>
              </a:r>
              <a:r>
                <a:rPr b="1" lang="vi" sz="1321">
                  <a:solidFill>
                    <a:srgbClr val="FF5252"/>
                  </a:solidFill>
                  <a:latin typeface="Roboto Mono"/>
                  <a:ea typeface="Roboto Mono"/>
                  <a:cs typeface="Roboto Mono"/>
                  <a:sym typeface="Roboto Mono"/>
                </a:rPr>
                <a:t>-5.56%</a:t>
              </a:r>
              <a:endParaRPr b="0" sz="1112">
                <a:solidFill>
                  <a:srgbClr val="B0BEC5"/>
                </a:solidFill>
                <a:latin typeface="Roboto Light"/>
                <a:ea typeface="Roboto Light"/>
                <a:cs typeface="Roboto Light"/>
                <a:sym typeface="Roboto Light"/>
              </a:endParaRPr>
            </a:p>
            <a:p>
              <a:pPr indent="0" lvl="0" marL="0" rtl="0" algn="l">
                <a:spcBef>
                  <a:spcPts val="451"/>
                </a:spcBef>
                <a:spcAft>
                  <a:spcPts val="0"/>
                </a:spcAft>
                <a:buNone/>
              </a:pPr>
              <a:r>
                <a:rPr b="0" lang="vi" sz="1112">
                  <a:solidFill>
                    <a:srgbClr val="B0BEC5"/>
                  </a:solidFill>
                  <a:latin typeface="Roboto Light"/>
                  <a:ea typeface="Roboto Light"/>
                  <a:cs typeface="Roboto Light"/>
                  <a:sym typeface="Roboto Light"/>
                </a:rPr>
                <a:t>Contract: </a:t>
              </a:r>
              <a:r>
                <a:rPr b="1" lang="vi" sz="1321">
                  <a:solidFill>
                    <a:srgbClr val="FFFFFF"/>
                  </a:solidFill>
                  <a:latin typeface="Roboto Mono"/>
                  <a:ea typeface="Roboto Mono"/>
                  <a:cs typeface="Roboto Mono"/>
                  <a:sym typeface="Roboto Mono"/>
                </a:rPr>
                <a:t>VN30F2604</a:t>
              </a:r>
              <a:endParaRPr b="0" sz="1112">
                <a:solidFill>
                  <a:srgbClr val="B0BEC5"/>
                </a:solidFill>
                <a:latin typeface="Roboto Light"/>
                <a:ea typeface="Roboto Light"/>
                <a:cs typeface="Roboto Light"/>
                <a:sym typeface="Roboto Light"/>
              </a:endParaRPr>
            </a:p>
            <a:p>
              <a:pPr indent="0" lvl="0" marL="0" rtl="0" algn="l">
                <a:spcBef>
                  <a:spcPts val="451"/>
                </a:spcBef>
                <a:spcAft>
                  <a:spcPts val="0"/>
                </a:spcAft>
                <a:buNone/>
              </a:pPr>
              <a:r>
                <a:rPr b="0" lang="vi" sz="1112">
                  <a:solidFill>
                    <a:srgbClr val="B0BEC5"/>
                  </a:solidFill>
                  <a:latin typeface="Roboto Light"/>
                  <a:ea typeface="Roboto Light"/>
                  <a:cs typeface="Roboto Light"/>
                  <a:sym typeface="Roboto Light"/>
                </a:rPr>
                <a:t>Period: </a:t>
              </a:r>
              <a:r>
                <a:rPr b="1" lang="vi" sz="1321">
                  <a:solidFill>
                    <a:srgbClr val="FFFFFF"/>
                  </a:solidFill>
                  <a:latin typeface="Roboto Mono"/>
                  <a:ea typeface="Roboto Mono"/>
                  <a:cs typeface="Roboto Mono"/>
                  <a:sym typeface="Roboto Mono"/>
                </a:rPr>
                <a:t>31/03 - 03/04/2026</a:t>
              </a:r>
              <a:endParaRPr b="0" sz="1112">
                <a:solidFill>
                  <a:srgbClr val="B0BEC5"/>
                </a:solidFill>
                <a:latin typeface="Roboto Light"/>
                <a:ea typeface="Roboto Light"/>
                <a:cs typeface="Roboto Light"/>
                <a:sym typeface="Roboto Light"/>
              </a:endParaRPr>
            </a:p>
          </p:txBody>
        </p:sp>
      </p:grpSp>
      <p:grpSp>
        <p:nvGrpSpPr>
          <p:cNvPr id="271" name="Google Shape;271;p28"/>
          <p:cNvGrpSpPr/>
          <p:nvPr/>
        </p:nvGrpSpPr>
        <p:grpSpPr>
          <a:xfrm>
            <a:off x="3135373" y="1647750"/>
            <a:ext cx="2577922" cy="1611371"/>
            <a:chOff x="0" y="0"/>
            <a:chExt cx="2286000" cy="1428900"/>
          </a:xfrm>
        </p:grpSpPr>
        <p:sp>
          <p:nvSpPr>
            <p:cNvPr id="272" name="Google Shape;272;p28"/>
            <p:cNvSpPr/>
            <p:nvPr/>
          </p:nvSpPr>
          <p:spPr>
            <a:xfrm>
              <a:off x="0" y="0"/>
              <a:ext cx="2286000" cy="1428900"/>
            </a:xfrm>
            <a:prstGeom prst="roundRect">
              <a:avLst>
                <a:gd fmla="val 2666" name="adj"/>
              </a:avLst>
            </a:prstGeom>
            <a:solidFill>
              <a:srgbClr val="1A237E">
                <a:alpha val="20000"/>
              </a:srgbClr>
            </a:solidFill>
            <a:ln cap="flat" cmpd="sng" w="1075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4"/>
            </a:p>
          </p:txBody>
        </p:sp>
        <p:sp>
          <p:nvSpPr>
            <p:cNvPr id="273" name="Google Shape;273;p28"/>
            <p:cNvSpPr txBox="1"/>
            <p:nvPr/>
          </p:nvSpPr>
          <p:spPr>
            <a:xfrm>
              <a:off x="142875" y="95250"/>
              <a:ext cx="20001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97">
                  <a:solidFill>
                    <a:srgbClr val="00E5FF"/>
                  </a:solidFill>
                  <a:latin typeface="Roboto Mono Medium"/>
                  <a:ea typeface="Roboto Mono Medium"/>
                  <a:cs typeface="Roboto Mono Medium"/>
                  <a:sym typeface="Roboto Mono Medium"/>
                </a:rPr>
                <a:t>EXECUTION STATS</a:t>
              </a:r>
              <a:endParaRPr b="0" sz="1297">
                <a:solidFill>
                  <a:srgbClr val="00E5FF"/>
                </a:solidFill>
                <a:latin typeface="Roboto Mono Medium"/>
                <a:ea typeface="Roboto Mono Medium"/>
                <a:cs typeface="Roboto Mono Medium"/>
                <a:sym typeface="Roboto Mono Medium"/>
              </a:endParaRPr>
            </a:p>
          </p:txBody>
        </p:sp>
        <p:sp>
          <p:nvSpPr>
            <p:cNvPr id="274" name="Google Shape;274;p28"/>
            <p:cNvSpPr txBox="1"/>
            <p:nvPr/>
          </p:nvSpPr>
          <p:spPr>
            <a:xfrm>
              <a:off x="142875" y="381000"/>
              <a:ext cx="20001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2707">
                  <a:solidFill>
                    <a:srgbClr val="00E5FF"/>
                  </a:solidFill>
                  <a:latin typeface="Roboto Mono"/>
                  <a:ea typeface="Roboto Mono"/>
                  <a:cs typeface="Roboto Mono"/>
                  <a:sym typeface="Roboto Mono"/>
                </a:rPr>
                <a:t>100%</a:t>
              </a:r>
              <a:endParaRPr b="1" sz="2707">
                <a:solidFill>
                  <a:srgbClr val="00E5FF"/>
                </a:solidFill>
                <a:latin typeface="Roboto Mono"/>
                <a:ea typeface="Roboto Mono"/>
                <a:cs typeface="Roboto Mono"/>
                <a:sym typeface="Roboto Mono"/>
              </a:endParaRPr>
            </a:p>
            <a:p>
              <a:pPr indent="0" lvl="0" marL="0" rtl="0" algn="ctr">
                <a:spcBef>
                  <a:spcPts val="0"/>
                </a:spcBef>
                <a:spcAft>
                  <a:spcPts val="0"/>
                </a:spcAft>
                <a:buNone/>
              </a:pPr>
              <a:r>
                <a:rPr b="1" lang="vi" sz="1804">
                  <a:solidFill>
                    <a:srgbClr val="FFFFFF"/>
                  </a:solidFill>
                </a:rPr>
                <a:t>Filled Rate</a:t>
              </a:r>
              <a:endParaRPr b="1" sz="1804">
                <a:solidFill>
                  <a:srgbClr val="FFFFFF"/>
                </a:solidFill>
              </a:endParaRPr>
            </a:p>
            <a:p>
              <a:pPr indent="0" lvl="0" marL="0" rtl="0" algn="ctr">
                <a:spcBef>
                  <a:spcPts val="451"/>
                </a:spcBef>
                <a:spcAft>
                  <a:spcPts val="0"/>
                </a:spcAft>
                <a:buNone/>
              </a:pPr>
              <a:r>
                <a:rPr b="0" lang="vi" sz="1112">
                  <a:solidFill>
                    <a:srgbClr val="B0BEC5"/>
                  </a:solidFill>
                  <a:latin typeface="Roboto Light"/>
                  <a:ea typeface="Roboto Light"/>
                  <a:cs typeface="Roboto Light"/>
                  <a:sym typeface="Roboto Light"/>
                </a:rPr>
                <a:t>77 Orders Executed</a:t>
              </a:r>
              <a:endParaRPr b="0" sz="1112">
                <a:solidFill>
                  <a:srgbClr val="B0BEC5"/>
                </a:solidFill>
                <a:latin typeface="Roboto Light"/>
                <a:ea typeface="Roboto Light"/>
                <a:cs typeface="Roboto Light"/>
                <a:sym typeface="Roboto Light"/>
              </a:endParaRPr>
            </a:p>
            <a:p>
              <a:pPr indent="0" lvl="0" marL="0" rtl="0" algn="ctr">
                <a:spcBef>
                  <a:spcPts val="0"/>
                </a:spcBef>
                <a:spcAft>
                  <a:spcPts val="0"/>
                </a:spcAft>
                <a:buNone/>
              </a:pPr>
              <a:r>
                <a:rPr b="0" lang="vi" sz="1112">
                  <a:solidFill>
                    <a:srgbClr val="B0BEC5"/>
                  </a:solidFill>
                  <a:latin typeface="Roboto Light"/>
                  <a:ea typeface="Roboto Light"/>
                  <a:cs typeface="Roboto Light"/>
                  <a:sym typeface="Roboto Light"/>
                </a:rPr>
                <a:t>Fee: 20k/side | Margin: 25%</a:t>
              </a:r>
              <a:endParaRPr b="0" sz="1112">
                <a:solidFill>
                  <a:srgbClr val="B0BEC5"/>
                </a:solidFill>
                <a:latin typeface="Roboto Light"/>
                <a:ea typeface="Roboto Light"/>
                <a:cs typeface="Roboto Light"/>
                <a:sym typeface="Roboto Light"/>
              </a:endParaRPr>
            </a:p>
          </p:txBody>
        </p:sp>
      </p:grpSp>
      <p:grpSp>
        <p:nvGrpSpPr>
          <p:cNvPr id="275" name="Google Shape;275;p28"/>
          <p:cNvGrpSpPr/>
          <p:nvPr/>
        </p:nvGrpSpPr>
        <p:grpSpPr>
          <a:xfrm>
            <a:off x="127775" y="3473791"/>
            <a:ext cx="5585498" cy="1557579"/>
            <a:chOff x="0" y="0"/>
            <a:chExt cx="4953000" cy="1381200"/>
          </a:xfrm>
        </p:grpSpPr>
        <p:sp>
          <p:nvSpPr>
            <p:cNvPr id="276" name="Google Shape;276;p28"/>
            <p:cNvSpPr/>
            <p:nvPr/>
          </p:nvSpPr>
          <p:spPr>
            <a:xfrm>
              <a:off x="0" y="0"/>
              <a:ext cx="4953000" cy="1381200"/>
            </a:xfrm>
            <a:prstGeom prst="roundRect">
              <a:avLst>
                <a:gd fmla="val 2758"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4"/>
            </a:p>
          </p:txBody>
        </p:sp>
        <p:sp>
          <p:nvSpPr>
            <p:cNvPr id="277" name="Google Shape;277;p28"/>
            <p:cNvSpPr txBox="1"/>
            <p:nvPr/>
          </p:nvSpPr>
          <p:spPr>
            <a:xfrm>
              <a:off x="190500" y="95250"/>
              <a:ext cx="457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97">
                  <a:solidFill>
                    <a:srgbClr val="00E5FF"/>
                  </a:solidFill>
                  <a:latin typeface="Roboto Mono Medium"/>
                  <a:ea typeface="Roboto Mono Medium"/>
                  <a:cs typeface="Roboto Mono Medium"/>
                  <a:sym typeface="Roboto Mono Medium"/>
                </a:rPr>
                <a:t>CORE TECHNICAL CHALLENGES</a:t>
              </a:r>
              <a:endParaRPr b="0" sz="1297">
                <a:solidFill>
                  <a:srgbClr val="00E5FF"/>
                </a:solidFill>
                <a:latin typeface="Roboto Mono Medium"/>
                <a:ea typeface="Roboto Mono Medium"/>
                <a:cs typeface="Roboto Mono Medium"/>
                <a:sym typeface="Roboto Mono Medium"/>
              </a:endParaRPr>
            </a:p>
          </p:txBody>
        </p:sp>
        <p:sp>
          <p:nvSpPr>
            <p:cNvPr id="278" name="Google Shape;278;p28"/>
            <p:cNvSpPr txBox="1"/>
            <p:nvPr/>
          </p:nvSpPr>
          <p:spPr>
            <a:xfrm>
              <a:off x="190500" y="381000"/>
              <a:ext cx="45720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112">
                  <a:solidFill>
                    <a:srgbClr val="B0BEC5"/>
                  </a:solidFill>
                  <a:latin typeface="Roboto Light"/>
                  <a:ea typeface="Roboto Light"/>
                  <a:cs typeface="Roboto Light"/>
                  <a:sym typeface="Roboto Light"/>
                </a:rPr>
                <a:t>• </a:t>
              </a:r>
              <a:r>
                <a:rPr b="1" lang="vi" sz="1112">
                  <a:solidFill>
                    <a:srgbClr val="FFFFFF"/>
                  </a:solidFill>
                  <a:latin typeface="Roboto"/>
                  <a:ea typeface="Roboto"/>
                  <a:cs typeface="Roboto"/>
                  <a:sym typeface="Roboto"/>
                </a:rPr>
                <a:t>Auto-sync Failure:</a:t>
              </a:r>
              <a:r>
                <a:rPr b="0" lang="vi" sz="1112">
                  <a:solidFill>
                    <a:srgbClr val="B0BEC5"/>
                  </a:solidFill>
                  <a:latin typeface="Roboto Light"/>
                  <a:ea typeface="Roboto Light"/>
                  <a:cs typeface="Roboto Light"/>
                  <a:sym typeface="Roboto Light"/>
                </a:rPr>
                <a:t> Re-establishing FIX API connection required complex logic to scan Order Books and prevent double-positioning.</a:t>
              </a:r>
              <a:endParaRPr b="0" sz="1112">
                <a:solidFill>
                  <a:srgbClr val="B0BEC5"/>
                </a:solidFill>
                <a:latin typeface="Roboto Light"/>
                <a:ea typeface="Roboto Light"/>
                <a:cs typeface="Roboto Light"/>
                <a:sym typeface="Roboto Light"/>
              </a:endParaRPr>
            </a:p>
            <a:p>
              <a:pPr indent="0" lvl="0" marL="0" rtl="0" algn="l">
                <a:spcBef>
                  <a:spcPts val="451"/>
                </a:spcBef>
                <a:spcAft>
                  <a:spcPts val="0"/>
                </a:spcAft>
                <a:buNone/>
              </a:pPr>
              <a:r>
                <a:rPr b="0" lang="vi" sz="1112">
                  <a:solidFill>
                    <a:srgbClr val="B0BEC5"/>
                  </a:solidFill>
                  <a:latin typeface="Roboto Light"/>
                  <a:ea typeface="Roboto Light"/>
                  <a:cs typeface="Roboto Light"/>
                  <a:sym typeface="Roboto Light"/>
                </a:rPr>
                <a:t>• </a:t>
              </a:r>
              <a:r>
                <a:rPr b="1" lang="vi" sz="1112">
                  <a:solidFill>
                    <a:srgbClr val="FFFFFF"/>
                  </a:solidFill>
                  <a:latin typeface="Roboto"/>
                  <a:ea typeface="Roboto"/>
                  <a:cs typeface="Roboto"/>
                  <a:sym typeface="Roboto"/>
                </a:rPr>
                <a:t>API Latency:</a:t>
              </a:r>
              <a:r>
                <a:rPr b="0" lang="vi" sz="1112">
                  <a:solidFill>
                    <a:srgbClr val="B0BEC5"/>
                  </a:solidFill>
                  <a:latin typeface="Roboto Light"/>
                  <a:ea typeface="Roboto Light"/>
                  <a:cs typeface="Roboto Light"/>
                  <a:sym typeface="Roboto Light"/>
                </a:rPr>
                <a:t> Telegram rate limits struggled with 1-min HFT frequency, creating sync gaps between terminal and notifications.</a:t>
              </a:r>
              <a:endParaRPr b="0" sz="1112">
                <a:solidFill>
                  <a:srgbClr val="B0BEC5"/>
                </a:solidFill>
                <a:latin typeface="Roboto Light"/>
                <a:ea typeface="Roboto Light"/>
                <a:cs typeface="Roboto Light"/>
                <a:sym typeface="Roboto Light"/>
              </a:endParaRPr>
            </a:p>
            <a:p>
              <a:pPr indent="0" lvl="0" marL="0" rtl="0" algn="l">
                <a:spcBef>
                  <a:spcPts val="451"/>
                </a:spcBef>
                <a:spcAft>
                  <a:spcPts val="0"/>
                </a:spcAft>
                <a:buNone/>
              </a:pPr>
              <a:r>
                <a:rPr b="0" lang="vi" sz="1112">
                  <a:solidFill>
                    <a:srgbClr val="B0BEC5"/>
                  </a:solidFill>
                  <a:latin typeface="Roboto Light"/>
                  <a:ea typeface="Roboto Light"/>
                  <a:cs typeface="Roboto Light"/>
                  <a:sym typeface="Roboto Light"/>
                </a:rPr>
                <a:t>• </a:t>
              </a:r>
              <a:r>
                <a:rPr b="1" lang="vi" sz="1112">
                  <a:solidFill>
                    <a:srgbClr val="FFFFFF"/>
                  </a:solidFill>
                  <a:latin typeface="Roboto"/>
                  <a:ea typeface="Roboto"/>
                  <a:cs typeface="Roboto"/>
                  <a:sym typeface="Roboto"/>
                </a:rPr>
                <a:t>Psychological Pressure:</a:t>
              </a:r>
              <a:r>
                <a:rPr b="0" lang="vi" sz="1112">
                  <a:solidFill>
                    <a:srgbClr val="B0BEC5"/>
                  </a:solidFill>
                  <a:latin typeface="Roboto Light"/>
                  <a:ea typeface="Roboto Light"/>
                  <a:cs typeface="Roboto Light"/>
                  <a:sym typeface="Roboto Light"/>
                </a:rPr>
                <a:t> Rapid P&amp;L swings and 77 orders in 4 days highlight the intensity of HFT environments for human oversight.</a:t>
              </a:r>
              <a:endParaRPr b="0" sz="1112">
                <a:solidFill>
                  <a:srgbClr val="B0BEC5"/>
                </a:solidFill>
                <a:latin typeface="Roboto Light"/>
                <a:ea typeface="Roboto Light"/>
                <a:cs typeface="Roboto Light"/>
                <a:sym typeface="Roboto Light"/>
              </a:endParaRPr>
            </a:p>
          </p:txBody>
        </p:sp>
      </p:grpSp>
      <p:pic>
        <p:nvPicPr>
          <p:cNvPr id="279" name="Google Shape;279;p28"/>
          <p:cNvPicPr preferRelativeResize="0"/>
          <p:nvPr/>
        </p:nvPicPr>
        <p:blipFill>
          <a:blip r:embed="rId3">
            <a:alphaModFix/>
          </a:blip>
          <a:stretch>
            <a:fillRect/>
          </a:stretch>
        </p:blipFill>
        <p:spPr>
          <a:xfrm>
            <a:off x="5829300" y="2339150"/>
            <a:ext cx="3314702" cy="2804360"/>
          </a:xfrm>
          <a:prstGeom prst="rect">
            <a:avLst/>
          </a:prstGeom>
          <a:noFill/>
          <a:ln>
            <a:noFill/>
          </a:ln>
        </p:spPr>
      </p:pic>
      <p:pic>
        <p:nvPicPr>
          <p:cNvPr id="280" name="Google Shape;280;p28"/>
          <p:cNvPicPr preferRelativeResize="0"/>
          <p:nvPr/>
        </p:nvPicPr>
        <p:blipFill>
          <a:blip r:embed="rId4">
            <a:alphaModFix/>
          </a:blip>
          <a:stretch>
            <a:fillRect/>
          </a:stretch>
        </p:blipFill>
        <p:spPr>
          <a:xfrm>
            <a:off x="5750438" y="847474"/>
            <a:ext cx="3472425" cy="1476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3" name="Shape 283"/>
        <p:cNvGrpSpPr/>
        <p:nvPr/>
      </p:nvGrpSpPr>
      <p:grpSpPr>
        <a:xfrm>
          <a:off x="0" y="0"/>
          <a:ext cx="0" cy="0"/>
          <a:chOff x="0" y="0"/>
          <a:chExt cx="0" cy="0"/>
        </a:xfrm>
      </p:grpSpPr>
      <p:sp>
        <p:nvSpPr>
          <p:cNvPr id="284" name="Google Shape;284;p29"/>
          <p:cNvSpPr txBox="1"/>
          <p:nvPr/>
        </p:nvSpPr>
        <p:spPr>
          <a:xfrm>
            <a:off x="306475" y="1778965"/>
            <a:ext cx="8761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4200">
                <a:solidFill>
                  <a:srgbClr val="00E5FF"/>
                </a:solidFill>
                <a:latin typeface="Montserrat"/>
                <a:ea typeface="Montserrat"/>
                <a:cs typeface="Montserrat"/>
                <a:sym typeface="Montserrat"/>
              </a:rPr>
              <a:t>6. Conclusion &amp; Future Roadmap</a:t>
            </a:r>
            <a:endParaRPr b="1" sz="4200">
              <a:solidFill>
                <a:srgbClr val="00E5FF"/>
              </a:solidFill>
              <a:latin typeface="Montserrat"/>
              <a:ea typeface="Montserrat"/>
              <a:cs typeface="Montserrat"/>
              <a:sym typeface="Montserrat"/>
            </a:endParaRPr>
          </a:p>
          <a:p>
            <a:pPr indent="0" lvl="0" marL="0" rtl="0" algn="l">
              <a:spcBef>
                <a:spcPts val="0"/>
              </a:spcBef>
              <a:spcAft>
                <a:spcPts val="0"/>
              </a:spcAft>
              <a:buNone/>
            </a:pPr>
            <a:r>
              <a:t/>
            </a:r>
            <a:endParaRPr b="1" sz="4200">
              <a:solidFill>
                <a:srgbClr val="00E5FF"/>
              </a:solidFill>
              <a:latin typeface="Montserrat"/>
              <a:ea typeface="Montserrat"/>
              <a:cs typeface="Montserrat"/>
              <a:sym typeface="Montserrat"/>
            </a:endParaRPr>
          </a:p>
        </p:txBody>
      </p:sp>
      <p:pic>
        <p:nvPicPr>
          <p:cNvPr id="285" name="Google Shape;285;p29"/>
          <p:cNvPicPr preferRelativeResize="0"/>
          <p:nvPr/>
        </p:nvPicPr>
        <p:blipFill rotWithShape="1">
          <a:blip r:embed="rId4">
            <a:alphaModFix/>
          </a:blip>
          <a:srcRect b="0" l="0" r="0" t="0"/>
          <a:stretch/>
        </p:blipFill>
        <p:spPr>
          <a:xfrm>
            <a:off x="306475" y="2984465"/>
            <a:ext cx="2286000" cy="28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288" name="Shape 288"/>
        <p:cNvGrpSpPr/>
        <p:nvPr/>
      </p:nvGrpSpPr>
      <p:grpSpPr>
        <a:xfrm>
          <a:off x="0" y="0"/>
          <a:ext cx="0" cy="0"/>
          <a:chOff x="0" y="0"/>
          <a:chExt cx="0" cy="0"/>
        </a:xfrm>
      </p:grpSpPr>
      <p:sp>
        <p:nvSpPr>
          <p:cNvPr id="289" name="Google Shape;289;p30"/>
          <p:cNvSpPr txBox="1"/>
          <p:nvPr/>
        </p:nvSpPr>
        <p:spPr>
          <a:xfrm>
            <a:off x="404100" y="122475"/>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600">
                <a:solidFill>
                  <a:srgbClr val="00E5FF"/>
                </a:solidFill>
                <a:latin typeface="Montserrat"/>
                <a:ea typeface="Montserrat"/>
                <a:cs typeface="Montserrat"/>
                <a:sym typeface="Montserrat"/>
              </a:rPr>
              <a:t>06. Conclusion &amp; Future Roadmap</a:t>
            </a:r>
            <a:endParaRPr b="0" sz="1600">
              <a:solidFill>
                <a:srgbClr val="00E5FF"/>
              </a:solidFill>
              <a:latin typeface="Montserrat"/>
              <a:ea typeface="Montserrat"/>
              <a:cs typeface="Montserrat"/>
              <a:sym typeface="Montserrat"/>
            </a:endParaRPr>
          </a:p>
        </p:txBody>
      </p:sp>
      <p:sp>
        <p:nvSpPr>
          <p:cNvPr id="290" name="Google Shape;290;p30"/>
          <p:cNvSpPr txBox="1"/>
          <p:nvPr/>
        </p:nvSpPr>
        <p:spPr>
          <a:xfrm>
            <a:off x="404100" y="503475"/>
            <a:ext cx="5143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2600">
                <a:solidFill>
                  <a:srgbClr val="FFFFFF"/>
                </a:solidFill>
                <a:latin typeface="Montserrat ExtraBold"/>
                <a:ea typeface="Montserrat ExtraBold"/>
                <a:cs typeface="Montserrat ExtraBold"/>
                <a:sym typeface="Montserrat ExtraBold"/>
              </a:rPr>
              <a:t>From Infrastructure to Quantitative Mastery</a:t>
            </a:r>
            <a:endParaRPr b="0" sz="2600">
              <a:solidFill>
                <a:srgbClr val="FFFFFF"/>
              </a:solidFill>
              <a:latin typeface="Montserrat ExtraBold"/>
              <a:ea typeface="Montserrat ExtraBold"/>
              <a:cs typeface="Montserrat ExtraBold"/>
              <a:sym typeface="Montserrat ExtraBold"/>
            </a:endParaRPr>
          </a:p>
        </p:txBody>
      </p:sp>
      <p:sp>
        <p:nvSpPr>
          <p:cNvPr id="291" name="Google Shape;291;p30"/>
          <p:cNvSpPr/>
          <p:nvPr/>
        </p:nvSpPr>
        <p:spPr>
          <a:xfrm>
            <a:off x="571500" y="1571625"/>
            <a:ext cx="5715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2" name="Google Shape;292;p30"/>
          <p:cNvGrpSpPr/>
          <p:nvPr/>
        </p:nvGrpSpPr>
        <p:grpSpPr>
          <a:xfrm>
            <a:off x="404104" y="1523922"/>
            <a:ext cx="3056744" cy="1667098"/>
            <a:chOff x="571500" y="1762125"/>
            <a:chExt cx="2476500" cy="1428900"/>
          </a:xfrm>
        </p:grpSpPr>
        <p:sp>
          <p:nvSpPr>
            <p:cNvPr id="293" name="Google Shape;293;p30"/>
            <p:cNvSpPr/>
            <p:nvPr/>
          </p:nvSpPr>
          <p:spPr>
            <a:xfrm>
              <a:off x="571500" y="1762125"/>
              <a:ext cx="2476500" cy="1428900"/>
            </a:xfrm>
            <a:prstGeom prst="roundRect">
              <a:avLst>
                <a:gd fmla="val 2666" name="adj"/>
              </a:avLst>
            </a:prstGeom>
            <a:solidFill>
              <a:srgbClr val="1A237E">
                <a:alpha val="20000"/>
              </a:srgbClr>
            </a:solidFill>
            <a:ln cap="flat" cmpd="sng" w="1112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67"/>
            </a:p>
          </p:txBody>
        </p:sp>
        <p:sp>
          <p:nvSpPr>
            <p:cNvPr id="294" name="Google Shape;294;p30"/>
            <p:cNvSpPr txBox="1"/>
            <p:nvPr/>
          </p:nvSpPr>
          <p:spPr>
            <a:xfrm>
              <a:off x="714375" y="1857375"/>
              <a:ext cx="2190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342">
                  <a:solidFill>
                    <a:srgbClr val="00E5FF"/>
                  </a:solidFill>
                  <a:latin typeface="Roboto Mono Medium"/>
                  <a:ea typeface="Roboto Mono Medium"/>
                  <a:cs typeface="Roboto Mono Medium"/>
                  <a:sym typeface="Roboto Mono Medium"/>
                </a:rPr>
                <a:t>EXECUTION &amp; SKILLS</a:t>
              </a:r>
              <a:endParaRPr b="0" sz="1342">
                <a:solidFill>
                  <a:srgbClr val="00E5FF"/>
                </a:solidFill>
                <a:latin typeface="Roboto Mono Medium"/>
                <a:ea typeface="Roboto Mono Medium"/>
                <a:cs typeface="Roboto Mono Medium"/>
                <a:sym typeface="Roboto Mono Medium"/>
              </a:endParaRPr>
            </a:p>
          </p:txBody>
        </p:sp>
        <p:sp>
          <p:nvSpPr>
            <p:cNvPr id="295" name="Google Shape;295;p30"/>
            <p:cNvSpPr txBox="1"/>
            <p:nvPr/>
          </p:nvSpPr>
          <p:spPr>
            <a:xfrm>
              <a:off x="714375" y="2143125"/>
              <a:ext cx="21909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83">
                  <a:solidFill>
                    <a:srgbClr val="B0BEC5"/>
                  </a:solidFill>
                  <a:latin typeface="Roboto Light"/>
                  <a:ea typeface="Roboto Light"/>
                  <a:cs typeface="Roboto Light"/>
                  <a:sym typeface="Roboto Light"/>
                </a:rPr>
                <a:t>Successfully deployed </a:t>
              </a:r>
              <a:r>
                <a:rPr b="0" lang="vi" sz="1283">
                  <a:solidFill>
                    <a:srgbClr val="FFFFFF"/>
                  </a:solidFill>
                  <a:latin typeface="Roboto Medium"/>
                  <a:ea typeface="Roboto Medium"/>
                  <a:cs typeface="Roboto Medium"/>
                  <a:sym typeface="Roboto Medium"/>
                </a:rPr>
                <a:t>End-to-End system</a:t>
              </a:r>
              <a:r>
                <a:rPr b="0" lang="vi" sz="1283">
                  <a:solidFill>
                    <a:srgbClr val="B0BEC5"/>
                  </a:solidFill>
                  <a:latin typeface="Roboto Light"/>
                  <a:ea typeface="Roboto Light"/>
                  <a:cs typeface="Roboto Light"/>
                  <a:sym typeface="Roboto Light"/>
                </a:rPr>
                <a:t> following the 9-step PLUTUS standard.</a:t>
              </a:r>
              <a:endParaRPr b="0" sz="1283">
                <a:solidFill>
                  <a:srgbClr val="B0BEC5"/>
                </a:solidFill>
                <a:latin typeface="Roboto Light"/>
                <a:ea typeface="Roboto Light"/>
                <a:cs typeface="Roboto Light"/>
                <a:sym typeface="Roboto Light"/>
              </a:endParaRPr>
            </a:p>
            <a:p>
              <a:pPr indent="0" lvl="0" marL="0" rtl="0" algn="l">
                <a:spcBef>
                  <a:spcPts val="525"/>
                </a:spcBef>
                <a:spcAft>
                  <a:spcPts val="0"/>
                </a:spcAft>
                <a:buNone/>
              </a:pPr>
              <a:r>
                <a:rPr b="0" lang="vi" sz="1283">
                  <a:solidFill>
                    <a:srgbClr val="B0BEC5"/>
                  </a:solidFill>
                  <a:latin typeface="Roboto Light"/>
                  <a:ea typeface="Roboto Light"/>
                  <a:cs typeface="Roboto Light"/>
                  <a:sym typeface="Roboto Light"/>
                </a:rPr>
                <a:t>Mastery of </a:t>
              </a:r>
              <a:r>
                <a:rPr b="0" lang="vi" sz="1283">
                  <a:solidFill>
                    <a:srgbClr val="FFFFFF"/>
                  </a:solidFill>
                  <a:latin typeface="Roboto Medium"/>
                  <a:ea typeface="Roboto Medium"/>
                  <a:cs typeface="Roboto Medium"/>
                  <a:sym typeface="Roboto Medium"/>
                </a:rPr>
                <a:t>System Thinking</a:t>
              </a:r>
              <a:r>
                <a:rPr b="0" lang="vi" sz="1283">
                  <a:solidFill>
                    <a:srgbClr val="B0BEC5"/>
                  </a:solidFill>
                  <a:latin typeface="Roboto Light"/>
                  <a:ea typeface="Roboto Light"/>
                  <a:cs typeface="Roboto Light"/>
                  <a:sym typeface="Roboto Light"/>
                </a:rPr>
                <a:t>, Data Engineering, and Automated Risk Management architectures.</a:t>
              </a:r>
              <a:endParaRPr b="0" sz="1283">
                <a:solidFill>
                  <a:srgbClr val="B0BEC5"/>
                </a:solidFill>
                <a:latin typeface="Roboto Light"/>
                <a:ea typeface="Roboto Light"/>
                <a:cs typeface="Roboto Light"/>
                <a:sym typeface="Roboto Light"/>
              </a:endParaRPr>
            </a:p>
          </p:txBody>
        </p:sp>
      </p:grpSp>
      <p:grpSp>
        <p:nvGrpSpPr>
          <p:cNvPr id="296" name="Google Shape;296;p30"/>
          <p:cNvGrpSpPr/>
          <p:nvPr/>
        </p:nvGrpSpPr>
        <p:grpSpPr>
          <a:xfrm>
            <a:off x="3523701" y="1523922"/>
            <a:ext cx="3164738" cy="1667098"/>
            <a:chOff x="3238500" y="1762125"/>
            <a:chExt cx="2286000" cy="1428900"/>
          </a:xfrm>
        </p:grpSpPr>
        <p:sp>
          <p:nvSpPr>
            <p:cNvPr id="297" name="Google Shape;297;p30"/>
            <p:cNvSpPr/>
            <p:nvPr/>
          </p:nvSpPr>
          <p:spPr>
            <a:xfrm>
              <a:off x="3238500" y="1762125"/>
              <a:ext cx="2286000" cy="1428900"/>
            </a:xfrm>
            <a:prstGeom prst="roundRect">
              <a:avLst>
                <a:gd fmla="val 2666" name="adj"/>
              </a:avLst>
            </a:prstGeom>
            <a:solidFill>
              <a:srgbClr val="1A237E">
                <a:alpha val="20000"/>
              </a:srgbClr>
            </a:solidFill>
            <a:ln cap="flat" cmpd="sng" w="11100">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67"/>
            </a:p>
          </p:txBody>
        </p:sp>
        <p:sp>
          <p:nvSpPr>
            <p:cNvPr id="298" name="Google Shape;298;p30"/>
            <p:cNvSpPr txBox="1"/>
            <p:nvPr/>
          </p:nvSpPr>
          <p:spPr>
            <a:xfrm>
              <a:off x="3381375" y="1857375"/>
              <a:ext cx="20001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342">
                  <a:solidFill>
                    <a:srgbClr val="00E5FF"/>
                  </a:solidFill>
                  <a:latin typeface="Roboto Mono Medium"/>
                  <a:ea typeface="Roboto Mono Medium"/>
                  <a:cs typeface="Roboto Mono Medium"/>
                  <a:sym typeface="Roboto Mono Medium"/>
                </a:rPr>
                <a:t>CORE LESSONS</a:t>
              </a:r>
              <a:endParaRPr b="0" sz="1342">
                <a:solidFill>
                  <a:srgbClr val="00E5FF"/>
                </a:solidFill>
                <a:latin typeface="Roboto Mono Medium"/>
                <a:ea typeface="Roboto Mono Medium"/>
                <a:cs typeface="Roboto Mono Medium"/>
                <a:sym typeface="Roboto Mono Medium"/>
              </a:endParaRPr>
            </a:p>
          </p:txBody>
        </p:sp>
        <p:sp>
          <p:nvSpPr>
            <p:cNvPr id="299" name="Google Shape;299;p30"/>
            <p:cNvSpPr txBox="1"/>
            <p:nvPr/>
          </p:nvSpPr>
          <p:spPr>
            <a:xfrm>
              <a:off x="3381375" y="2143125"/>
              <a:ext cx="20001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283">
                  <a:solidFill>
                    <a:srgbClr val="B0BEC5"/>
                  </a:solidFill>
                  <a:latin typeface="Roboto Light"/>
                  <a:ea typeface="Roboto Light"/>
                  <a:cs typeface="Roboto Light"/>
                  <a:sym typeface="Roboto Light"/>
                </a:rPr>
                <a:t>High frequency </a:t>
              </a:r>
              <a:r>
                <a:rPr b="0" lang="vi" sz="1283">
                  <a:solidFill>
                    <a:srgbClr val="FFFFFF"/>
                  </a:solidFill>
                  <a:latin typeface="Roboto Medium"/>
                  <a:ea typeface="Roboto Medium"/>
                  <a:cs typeface="Roboto Medium"/>
                  <a:sym typeface="Roboto Medium"/>
                </a:rPr>
                <a:t>transaction costs</a:t>
              </a:r>
              <a:r>
                <a:rPr b="0" lang="vi" sz="1283">
                  <a:solidFill>
                    <a:srgbClr val="B0BEC5"/>
                  </a:solidFill>
                  <a:latin typeface="Roboto Light"/>
                  <a:ea typeface="Roboto Light"/>
                  <a:cs typeface="Roboto Light"/>
                  <a:sym typeface="Roboto Light"/>
                </a:rPr>
                <a:t> and </a:t>
              </a:r>
              <a:r>
                <a:rPr b="0" lang="vi" sz="1283">
                  <a:solidFill>
                    <a:srgbClr val="FFFFFF"/>
                  </a:solidFill>
                  <a:latin typeface="Roboto Medium"/>
                  <a:ea typeface="Roboto Medium"/>
                  <a:cs typeface="Roboto Medium"/>
                  <a:sym typeface="Roboto Medium"/>
                </a:rPr>
                <a:t>Whipsaw noise</a:t>
              </a:r>
              <a:r>
                <a:rPr b="0" lang="vi" sz="1283">
                  <a:solidFill>
                    <a:srgbClr val="B0BEC5"/>
                  </a:solidFill>
                  <a:latin typeface="Roboto Light"/>
                  <a:ea typeface="Roboto Light"/>
                  <a:cs typeface="Roboto Light"/>
                  <a:sym typeface="Roboto Light"/>
                </a:rPr>
                <a:t> on 1m frames erode the EMA edge.</a:t>
              </a:r>
              <a:endParaRPr b="0" sz="1283">
                <a:solidFill>
                  <a:srgbClr val="B0BEC5"/>
                </a:solidFill>
                <a:latin typeface="Roboto Light"/>
                <a:ea typeface="Roboto Light"/>
                <a:cs typeface="Roboto Light"/>
                <a:sym typeface="Roboto Light"/>
              </a:endParaRPr>
            </a:p>
            <a:p>
              <a:pPr indent="0" lvl="0" marL="0" rtl="0" algn="l">
                <a:spcBef>
                  <a:spcPts val="525"/>
                </a:spcBef>
                <a:spcAft>
                  <a:spcPts val="0"/>
                </a:spcAft>
                <a:buNone/>
              </a:pPr>
              <a:r>
                <a:rPr b="0" lang="vi" sz="1283">
                  <a:solidFill>
                    <a:srgbClr val="B0BEC5"/>
                  </a:solidFill>
                  <a:latin typeface="Roboto Light"/>
                  <a:ea typeface="Roboto Light"/>
                  <a:cs typeface="Roboto Light"/>
                  <a:sym typeface="Roboto Light"/>
                </a:rPr>
                <a:t>Technical logic must account for the harsh reality of macro-sideways market conditions.</a:t>
              </a:r>
              <a:endParaRPr b="0" sz="1283">
                <a:solidFill>
                  <a:srgbClr val="B0BEC5"/>
                </a:solidFill>
                <a:latin typeface="Roboto Light"/>
                <a:ea typeface="Roboto Light"/>
                <a:cs typeface="Roboto Light"/>
                <a:sym typeface="Roboto Light"/>
              </a:endParaRPr>
            </a:p>
          </p:txBody>
        </p:sp>
      </p:grpSp>
      <p:grpSp>
        <p:nvGrpSpPr>
          <p:cNvPr id="300" name="Google Shape;300;p30"/>
          <p:cNvGrpSpPr/>
          <p:nvPr/>
        </p:nvGrpSpPr>
        <p:grpSpPr>
          <a:xfrm>
            <a:off x="381036" y="3259667"/>
            <a:ext cx="5648897" cy="1735892"/>
            <a:chOff x="571500" y="3381375"/>
            <a:chExt cx="4953000" cy="1381200"/>
          </a:xfrm>
        </p:grpSpPr>
        <p:sp>
          <p:nvSpPr>
            <p:cNvPr id="301" name="Google Shape;301;p30"/>
            <p:cNvSpPr/>
            <p:nvPr/>
          </p:nvSpPr>
          <p:spPr>
            <a:xfrm>
              <a:off x="571500" y="3381375"/>
              <a:ext cx="4953000" cy="1381200"/>
            </a:xfrm>
            <a:prstGeom prst="roundRect">
              <a:avLst>
                <a:gd fmla="val 2758"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30"/>
            </a:p>
          </p:txBody>
        </p:sp>
        <p:sp>
          <p:nvSpPr>
            <p:cNvPr id="302" name="Google Shape;302;p30"/>
            <p:cNvSpPr txBox="1"/>
            <p:nvPr/>
          </p:nvSpPr>
          <p:spPr>
            <a:xfrm>
              <a:off x="762000" y="3476625"/>
              <a:ext cx="457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60">
                  <a:solidFill>
                    <a:srgbClr val="00E5FF"/>
                  </a:solidFill>
                  <a:latin typeface="Roboto Mono Medium"/>
                  <a:ea typeface="Roboto Mono Medium"/>
                  <a:cs typeface="Roboto Mono Medium"/>
                  <a:sym typeface="Roboto Mono Medium"/>
                </a:rPr>
                <a:t>FUTURE STRATEGIC ROADMAP</a:t>
              </a:r>
              <a:endParaRPr b="0" sz="1460">
                <a:solidFill>
                  <a:srgbClr val="00E5FF"/>
                </a:solidFill>
                <a:latin typeface="Roboto Mono Medium"/>
                <a:ea typeface="Roboto Mono Medium"/>
                <a:cs typeface="Roboto Mono Medium"/>
                <a:sym typeface="Roboto Mono Medium"/>
              </a:endParaRPr>
            </a:p>
          </p:txBody>
        </p:sp>
        <p:sp>
          <p:nvSpPr>
            <p:cNvPr id="303" name="Google Shape;303;p30"/>
            <p:cNvSpPr txBox="1"/>
            <p:nvPr/>
          </p:nvSpPr>
          <p:spPr>
            <a:xfrm>
              <a:off x="762000" y="3762375"/>
              <a:ext cx="45720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vi" sz="1406">
                  <a:solidFill>
                    <a:srgbClr val="B0BEC5"/>
                  </a:solidFill>
                  <a:latin typeface="Roboto Light"/>
                  <a:ea typeface="Roboto Light"/>
                  <a:cs typeface="Roboto Light"/>
                  <a:sym typeface="Roboto Light"/>
                </a:rPr>
                <a:t>• </a:t>
              </a:r>
              <a:r>
                <a:rPr b="0" lang="vi" sz="1406">
                  <a:solidFill>
                    <a:srgbClr val="FFFFFF"/>
                  </a:solidFill>
                  <a:latin typeface="Roboto Medium"/>
                  <a:ea typeface="Roboto Medium"/>
                  <a:cs typeface="Roboto Medium"/>
                  <a:sym typeface="Roboto Medium"/>
                </a:rPr>
                <a:t>Quantitative Optimization:</a:t>
              </a:r>
              <a:r>
                <a:rPr b="0" lang="vi" sz="1406">
                  <a:solidFill>
                    <a:srgbClr val="B0BEC5"/>
                  </a:solidFill>
                  <a:latin typeface="Roboto Light"/>
                  <a:ea typeface="Roboto Light"/>
                  <a:cs typeface="Roboto Light"/>
                  <a:sym typeface="Roboto Light"/>
                </a:rPr>
                <a:t> Shifting focus from software infrastructure to advanced quantitative research.</a:t>
              </a:r>
              <a:endParaRPr b="0" sz="1406">
                <a:solidFill>
                  <a:srgbClr val="B0BEC5"/>
                </a:solidFill>
                <a:latin typeface="Roboto Light"/>
                <a:ea typeface="Roboto Light"/>
                <a:cs typeface="Roboto Light"/>
                <a:sym typeface="Roboto Light"/>
              </a:endParaRPr>
            </a:p>
            <a:p>
              <a:pPr indent="0" lvl="0" marL="0" rtl="0" algn="l">
                <a:spcBef>
                  <a:spcPts val="405"/>
                </a:spcBef>
                <a:spcAft>
                  <a:spcPts val="0"/>
                </a:spcAft>
                <a:buNone/>
              </a:pPr>
              <a:r>
                <a:rPr b="0" lang="vi" sz="1406">
                  <a:solidFill>
                    <a:srgbClr val="B0BEC5"/>
                  </a:solidFill>
                  <a:latin typeface="Roboto Light"/>
                  <a:ea typeface="Roboto Light"/>
                  <a:cs typeface="Roboto Light"/>
                  <a:sym typeface="Roboto Light"/>
                </a:rPr>
                <a:t>• </a:t>
              </a:r>
              <a:r>
                <a:rPr b="0" lang="vi" sz="1406">
                  <a:solidFill>
                    <a:srgbClr val="FFFFFF"/>
                  </a:solidFill>
                  <a:latin typeface="Roboto Medium"/>
                  <a:ea typeface="Roboto Medium"/>
                  <a:cs typeface="Roboto Medium"/>
                  <a:sym typeface="Roboto Medium"/>
                </a:rPr>
                <a:t>Timeframe Scaling:</a:t>
              </a:r>
              <a:r>
                <a:rPr b="0" lang="vi" sz="1406">
                  <a:solidFill>
                    <a:srgbClr val="B0BEC5"/>
                  </a:solidFill>
                  <a:latin typeface="Roboto Light"/>
                  <a:ea typeface="Roboto Light"/>
                  <a:cs typeface="Roboto Light"/>
                  <a:sym typeface="Roboto Light"/>
                </a:rPr>
                <a:t> Transitioning to 15m, 1H, and 1D frames to filter noise and capture macro trends.</a:t>
              </a:r>
              <a:endParaRPr b="0" sz="1406">
                <a:solidFill>
                  <a:srgbClr val="B0BEC5"/>
                </a:solidFill>
                <a:latin typeface="Roboto Light"/>
                <a:ea typeface="Roboto Light"/>
                <a:cs typeface="Roboto Light"/>
                <a:sym typeface="Roboto Light"/>
              </a:endParaRPr>
            </a:p>
            <a:p>
              <a:pPr indent="0" lvl="0" marL="0" rtl="0" algn="l">
                <a:spcBef>
                  <a:spcPts val="405"/>
                </a:spcBef>
                <a:spcAft>
                  <a:spcPts val="0"/>
                </a:spcAft>
                <a:buNone/>
              </a:pPr>
              <a:r>
                <a:rPr b="0" lang="vi" sz="1406">
                  <a:solidFill>
                    <a:srgbClr val="B0BEC5"/>
                  </a:solidFill>
                  <a:latin typeface="Roboto Light"/>
                  <a:ea typeface="Roboto Light"/>
                  <a:cs typeface="Roboto Light"/>
                  <a:sym typeface="Roboto Light"/>
                </a:rPr>
                <a:t>• </a:t>
              </a:r>
              <a:r>
                <a:rPr b="0" lang="vi" sz="1406">
                  <a:solidFill>
                    <a:srgbClr val="FFFFFF"/>
                  </a:solidFill>
                  <a:latin typeface="Roboto Medium"/>
                  <a:ea typeface="Roboto Medium"/>
                  <a:cs typeface="Roboto Medium"/>
                  <a:sym typeface="Roboto Medium"/>
                </a:rPr>
                <a:t>Advanced Testing:</a:t>
              </a:r>
              <a:r>
                <a:rPr b="0" lang="vi" sz="1406">
                  <a:solidFill>
                    <a:srgbClr val="B0BEC5"/>
                  </a:solidFill>
                  <a:latin typeface="Roboto Light"/>
                  <a:ea typeface="Roboto Light"/>
                  <a:cs typeface="Roboto Light"/>
                  <a:sym typeface="Roboto Light"/>
                </a:rPr>
                <a:t> Implementation of Walk-forward Optimization and Monte Carlo simulations for robustness.</a:t>
              </a:r>
              <a:endParaRPr b="0" sz="1406">
                <a:solidFill>
                  <a:srgbClr val="B0BEC5"/>
                </a:solidFill>
                <a:latin typeface="Roboto Light"/>
                <a:ea typeface="Roboto Light"/>
                <a:cs typeface="Roboto Light"/>
                <a:sym typeface="Roboto Light"/>
              </a:endParaRPr>
            </a:p>
          </p:txBody>
        </p:sp>
      </p:grpSp>
      <p:pic>
        <p:nvPicPr>
          <p:cNvPr id="304" name="Google Shape;304;p30"/>
          <p:cNvPicPr preferRelativeResize="0"/>
          <p:nvPr/>
        </p:nvPicPr>
        <p:blipFill>
          <a:blip r:embed="rId3">
            <a:alphaModFix/>
          </a:blip>
          <a:stretch>
            <a:fillRect/>
          </a:stretch>
        </p:blipFill>
        <p:spPr>
          <a:xfrm>
            <a:off x="7057500" y="3885275"/>
            <a:ext cx="1976749" cy="1110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1E"/>
        </a:solidFill>
      </p:bgPr>
    </p:bg>
    <p:spTree>
      <p:nvGrpSpPr>
        <p:cNvPr id="307" name="Shape 307"/>
        <p:cNvGrpSpPr/>
        <p:nvPr/>
      </p:nvGrpSpPr>
      <p:grpSpPr>
        <a:xfrm>
          <a:off x="0" y="0"/>
          <a:ext cx="0" cy="0"/>
          <a:chOff x="0" y="0"/>
          <a:chExt cx="0" cy="0"/>
        </a:xfrm>
      </p:grpSpPr>
      <p:pic>
        <p:nvPicPr>
          <p:cNvPr descr="A futuristic, dark high-tech background with subtle blue glowing circuit lines and data particles, very minimal and professional for a trading presentation." id="308" name="Google Shape;308;p31"/>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309" name="Google Shape;309;p31"/>
          <p:cNvGrpSpPr/>
          <p:nvPr/>
        </p:nvGrpSpPr>
        <p:grpSpPr>
          <a:xfrm>
            <a:off x="0" y="1714500"/>
            <a:ext cx="9144000" cy="1504875"/>
            <a:chOff x="0" y="0"/>
            <a:chExt cx="9144000" cy="1504875"/>
          </a:xfrm>
        </p:grpSpPr>
        <p:sp>
          <p:nvSpPr>
            <p:cNvPr id="310" name="Google Shape;310;p31"/>
            <p:cNvSpPr txBox="1"/>
            <p:nvPr/>
          </p:nvSpPr>
          <p:spPr>
            <a:xfrm>
              <a:off x="0" y="0"/>
              <a:ext cx="9144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4800">
                  <a:solidFill>
                    <a:srgbClr val="00E5FF"/>
                  </a:solidFill>
                  <a:latin typeface="Montserrat"/>
                  <a:ea typeface="Montserrat"/>
                  <a:cs typeface="Montserrat"/>
                  <a:sym typeface="Montserrat"/>
                </a:rPr>
                <a:t>THANK YOU</a:t>
              </a:r>
              <a:endParaRPr b="1" sz="4800">
                <a:solidFill>
                  <a:srgbClr val="00E5FF"/>
                </a:solidFill>
                <a:latin typeface="Montserrat"/>
                <a:ea typeface="Montserrat"/>
                <a:cs typeface="Montserrat"/>
                <a:sym typeface="Montserrat"/>
              </a:endParaRPr>
            </a:p>
          </p:txBody>
        </p:sp>
        <p:sp>
          <p:nvSpPr>
            <p:cNvPr id="311" name="Google Shape;311;p31"/>
            <p:cNvSpPr txBox="1"/>
            <p:nvPr/>
          </p:nvSpPr>
          <p:spPr>
            <a:xfrm>
              <a:off x="0" y="762000"/>
              <a:ext cx="9144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2400">
                  <a:solidFill>
                    <a:srgbClr val="FFFFFF"/>
                  </a:solidFill>
                  <a:latin typeface="Montserrat"/>
                  <a:ea typeface="Montserrat"/>
                  <a:cs typeface="Montserrat"/>
                  <a:sym typeface="Montserrat"/>
                </a:rPr>
                <a:t>&amp; QUESTIONS</a:t>
              </a:r>
              <a:endParaRPr b="0" sz="2400">
                <a:solidFill>
                  <a:srgbClr val="FFFFFF"/>
                </a:solidFill>
                <a:latin typeface="Montserrat"/>
                <a:ea typeface="Montserrat"/>
                <a:cs typeface="Montserrat"/>
                <a:sym typeface="Montserrat"/>
              </a:endParaRPr>
            </a:p>
          </p:txBody>
        </p:sp>
        <p:sp>
          <p:nvSpPr>
            <p:cNvPr id="312" name="Google Shape;312;p31"/>
            <p:cNvSpPr/>
            <p:nvPr/>
          </p:nvSpPr>
          <p:spPr>
            <a:xfrm>
              <a:off x="4000500" y="1476375"/>
              <a:ext cx="11430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13" name="Google Shape;313;p31"/>
          <p:cNvGrpSpPr/>
          <p:nvPr/>
        </p:nvGrpSpPr>
        <p:grpSpPr>
          <a:xfrm>
            <a:off x="3143250" y="4000500"/>
            <a:ext cx="2857500" cy="571500"/>
            <a:chOff x="0" y="0"/>
            <a:chExt cx="2857500" cy="571500"/>
          </a:xfrm>
        </p:grpSpPr>
        <p:sp>
          <p:nvSpPr>
            <p:cNvPr id="314" name="Google Shape;314;p31"/>
            <p:cNvSpPr/>
            <p:nvPr/>
          </p:nvSpPr>
          <p:spPr>
            <a:xfrm>
              <a:off x="0" y="0"/>
              <a:ext cx="2857500" cy="571500"/>
            </a:xfrm>
            <a:prstGeom prst="roundRect">
              <a:avLst>
                <a:gd fmla="val 6666" name="adj"/>
              </a:avLst>
            </a:prstGeom>
            <a:solidFill>
              <a:srgbClr val="1A237E">
                <a:alpha val="30000"/>
              </a:srgbClr>
            </a:solidFill>
            <a:ln cap="flat" cmpd="sng" w="9525">
              <a:solidFill>
                <a:srgbClr val="1A237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31"/>
            <p:cNvSpPr txBox="1"/>
            <p:nvPr/>
          </p:nvSpPr>
          <p:spPr>
            <a:xfrm>
              <a:off x="95250" y="95250"/>
              <a:ext cx="2667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1200">
                  <a:solidFill>
                    <a:srgbClr val="00E5FF"/>
                  </a:solidFill>
                  <a:latin typeface="Roboto Mono Medium"/>
                  <a:ea typeface="Roboto Mono Medium"/>
                  <a:cs typeface="Roboto Mono Medium"/>
                  <a:sym typeface="Roboto Mono Medium"/>
                </a:rPr>
                <a:t>CS408</a:t>
              </a:r>
              <a:r>
                <a:rPr b="0" lang="vi" sz="1200">
                  <a:solidFill>
                    <a:srgbClr val="00E5FF"/>
                  </a:solidFill>
                  <a:latin typeface="Roboto Mono Medium"/>
                  <a:ea typeface="Roboto Mono Medium"/>
                  <a:cs typeface="Roboto Mono Medium"/>
                  <a:sym typeface="Roboto Mono Medium"/>
                </a:rPr>
                <a:t> | </a:t>
              </a:r>
              <a:r>
                <a:rPr lang="vi" sz="1200">
                  <a:solidFill>
                    <a:srgbClr val="00E5FF"/>
                  </a:solidFill>
                  <a:latin typeface="Roboto Mono Medium"/>
                  <a:ea typeface="Roboto Mono Medium"/>
                  <a:cs typeface="Roboto Mono Medium"/>
                  <a:sym typeface="Roboto Mono Medium"/>
                </a:rPr>
                <a:t>COMPUTATIONAL FINANCE</a:t>
              </a:r>
              <a:endParaRPr b="0" sz="1200">
                <a:solidFill>
                  <a:srgbClr val="00E5FF"/>
                </a:solidFill>
                <a:latin typeface="Roboto Mono Medium"/>
                <a:ea typeface="Roboto Mono Medium"/>
                <a:cs typeface="Roboto Mono Medium"/>
                <a:sym typeface="Roboto Mono Medium"/>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